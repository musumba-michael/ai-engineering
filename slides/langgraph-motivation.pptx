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n.wikipedia.org/wiki/Control_flow" TargetMode="External"/><Relationship Id="rId3" Type="http://schemas.openxmlformats.org/officeDocument/2006/relationships/hyperlink" Target="https://github.com/langchain-ai/rag-from-scratch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n.wikipedia.org/wiki/Control_flow" TargetMode="External"/><Relationship Id="rId3" Type="http://schemas.openxmlformats.org/officeDocument/2006/relationships/hyperlink" Target="https://blog.langchain.dev/what-is-an-agent/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blog.langchain.dev/what-is-an-agent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blog.langchain.dev/what-is-an-agent/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blog.langchain.dev/what-is-an-agent/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blog.langchain.dev/what-is-a-cognitive-architecture/" TargetMode="External"/><Relationship Id="rId3" Type="http://schemas.openxmlformats.org/officeDocument/2006/relationships/hyperlink" Target="https://x.com/AndrewYNg/status/1801295202788983136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langchain-ai/langgraph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langchain-ai/langgraph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langchain-ai/langgraph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C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4754880" y="1053250"/>
            <a:ext cx="7315200" cy="1733493"/>
          </a:xfrm>
          <a:custGeom>
            <a:avLst/>
            <a:gdLst/>
            <a:ahLst/>
            <a:cxnLst/>
            <a:rect l="l" t="t" r="r" b="b"/>
            <a:pathLst>
              <a:path w="7315200" h="1733493">
                <a:moveTo>
                  <a:pt x="0" y="866990"/>
                </a:moveTo>
                <a:lnTo>
                  <a:pt x="182880" y="996803"/>
                </a:lnTo>
                <a:lnTo>
                  <a:pt x="365760" y="1123702"/>
                </a:lnTo>
                <a:lnTo>
                  <a:pt x="548640" y="1244835"/>
                </a:lnTo>
                <a:lnTo>
                  <a:pt x="731520" y="1357483"/>
                </a:lnTo>
                <a:lnTo>
                  <a:pt x="914400" y="1459115"/>
                </a:lnTo>
                <a:lnTo>
                  <a:pt x="1097280" y="1547450"/>
                </a:lnTo>
                <a:lnTo>
                  <a:pt x="1280160" y="1620503"/>
                </a:lnTo>
                <a:lnTo>
                  <a:pt x="1463040" y="1676633"/>
                </a:lnTo>
                <a:lnTo>
                  <a:pt x="1645920" y="1714581"/>
                </a:lnTo>
                <a:lnTo>
                  <a:pt x="1828800" y="1733493"/>
                </a:lnTo>
                <a:lnTo>
                  <a:pt x="2011680" y="1732946"/>
                </a:lnTo>
                <a:lnTo>
                  <a:pt x="2194560" y="1712951"/>
                </a:lnTo>
                <a:lnTo>
                  <a:pt x="2377440" y="1673958"/>
                </a:lnTo>
                <a:lnTo>
                  <a:pt x="2560320" y="1616842"/>
                </a:lnTo>
                <a:lnTo>
                  <a:pt x="2743199" y="1542886"/>
                </a:lnTo>
                <a:lnTo>
                  <a:pt x="2926080" y="1453751"/>
                </a:lnTo>
                <a:lnTo>
                  <a:pt x="3108960" y="1351438"/>
                </a:lnTo>
                <a:lnTo>
                  <a:pt x="3291840" y="1238246"/>
                </a:lnTo>
                <a:lnTo>
                  <a:pt x="3474720" y="1116716"/>
                </a:lnTo>
                <a:lnTo>
                  <a:pt x="3657600" y="989578"/>
                </a:lnTo>
                <a:lnTo>
                  <a:pt x="3840480" y="859686"/>
                </a:lnTo>
                <a:lnTo>
                  <a:pt x="4023360" y="729959"/>
                </a:lnTo>
                <a:lnTo>
                  <a:pt x="4206240" y="603309"/>
                </a:lnTo>
                <a:lnTo>
                  <a:pt x="4389120" y="482581"/>
                </a:lnTo>
                <a:lnTo>
                  <a:pt x="4572000" y="370486"/>
                </a:lnTo>
                <a:lnTo>
                  <a:pt x="4754880" y="269541"/>
                </a:lnTo>
                <a:lnTo>
                  <a:pt x="4937760" y="182013"/>
                </a:lnTo>
                <a:lnTo>
                  <a:pt x="5120640" y="109869"/>
                </a:lnTo>
                <a:lnTo>
                  <a:pt x="5303520" y="54728"/>
                </a:lnTo>
                <a:lnTo>
                  <a:pt x="5486400" y="17829"/>
                </a:lnTo>
                <a:lnTo>
                  <a:pt x="5669280" y="0"/>
                </a:lnTo>
                <a:lnTo>
                  <a:pt x="5852160" y="1641"/>
                </a:lnTo>
                <a:lnTo>
                  <a:pt x="6035040" y="22717"/>
                </a:lnTo>
                <a:lnTo>
                  <a:pt x="6217920" y="62753"/>
                </a:lnTo>
                <a:lnTo>
                  <a:pt x="6400800" y="120850"/>
                </a:lnTo>
                <a:lnTo>
                  <a:pt x="6583680" y="195704"/>
                </a:lnTo>
                <a:lnTo>
                  <a:pt x="6766560" y="285634"/>
                </a:lnTo>
                <a:lnTo>
                  <a:pt x="6949440" y="388620"/>
                </a:lnTo>
                <a:lnTo>
                  <a:pt x="7132320" y="502349"/>
                </a:lnTo>
                <a:lnTo>
                  <a:pt x="7315200" y="624267"/>
                </a:lnTo>
              </a:path>
            </a:pathLst>
          </a:custGeom>
          <a:noFill/>
          <a:ln w="9525">
            <a:solidFill>
              <a:srgbClr val="7A5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4754880" y="1108408"/>
            <a:ext cx="7315200" cy="1733854"/>
          </a:xfrm>
          <a:custGeom>
            <a:avLst/>
            <a:gdLst/>
            <a:ahLst/>
            <a:cxnLst/>
            <a:rect l="l" t="t" r="r" b="b"/>
            <a:pathLst>
              <a:path w="7315200" h="1733854">
                <a:moveTo>
                  <a:pt x="0" y="979306"/>
                </a:moveTo>
                <a:lnTo>
                  <a:pt x="182880" y="1106760"/>
                </a:lnTo>
                <a:lnTo>
                  <a:pt x="365760" y="1228823"/>
                </a:lnTo>
                <a:lnTo>
                  <a:pt x="548640" y="1342753"/>
                </a:lnTo>
                <a:lnTo>
                  <a:pt x="731520" y="1445992"/>
                </a:lnTo>
                <a:lnTo>
                  <a:pt x="914400" y="1536221"/>
                </a:lnTo>
                <a:lnTo>
                  <a:pt x="1097280" y="1611414"/>
                </a:lnTo>
                <a:lnTo>
                  <a:pt x="1280160" y="1669882"/>
                </a:lnTo>
                <a:lnTo>
                  <a:pt x="1463040" y="1710313"/>
                </a:lnTo>
                <a:lnTo>
                  <a:pt x="1645920" y="1731797"/>
                </a:lnTo>
                <a:lnTo>
                  <a:pt x="1828800" y="1733854"/>
                </a:lnTo>
                <a:lnTo>
                  <a:pt x="2011680" y="1716435"/>
                </a:lnTo>
                <a:lnTo>
                  <a:pt x="2194560" y="1679934"/>
                </a:lnTo>
                <a:lnTo>
                  <a:pt x="2377440" y="1625169"/>
                </a:lnTo>
                <a:lnTo>
                  <a:pt x="2560320" y="1553370"/>
                </a:lnTo>
                <a:lnTo>
                  <a:pt x="2743199" y="1466150"/>
                </a:lnTo>
                <a:lnTo>
                  <a:pt x="2926080" y="1365467"/>
                </a:lnTo>
                <a:lnTo>
                  <a:pt x="3108960" y="1253584"/>
                </a:lnTo>
                <a:lnTo>
                  <a:pt x="3291840" y="1133011"/>
                </a:lnTo>
                <a:lnTo>
                  <a:pt x="3474720" y="1006458"/>
                </a:lnTo>
                <a:lnTo>
                  <a:pt x="3657600" y="876766"/>
                </a:lnTo>
                <a:lnTo>
                  <a:pt x="3840480" y="746847"/>
                </a:lnTo>
                <a:lnTo>
                  <a:pt x="4023360" y="619621"/>
                </a:lnTo>
                <a:lnTo>
                  <a:pt x="4206240" y="497943"/>
                </a:lnTo>
                <a:lnTo>
                  <a:pt x="4389120" y="384546"/>
                </a:lnTo>
                <a:lnTo>
                  <a:pt x="4572000" y="281977"/>
                </a:lnTo>
                <a:lnTo>
                  <a:pt x="4754880" y="192540"/>
                </a:lnTo>
                <a:lnTo>
                  <a:pt x="4937760" y="118244"/>
                </a:lnTo>
                <a:lnTo>
                  <a:pt x="5120640" y="60755"/>
                </a:lnTo>
                <a:lnTo>
                  <a:pt x="5303520" y="21367"/>
                </a:lnTo>
                <a:lnTo>
                  <a:pt x="5486400" y="962"/>
                </a:lnTo>
                <a:lnTo>
                  <a:pt x="5669280" y="0"/>
                </a:lnTo>
                <a:lnTo>
                  <a:pt x="5852160" y="18502"/>
                </a:lnTo>
                <a:lnTo>
                  <a:pt x="6035040" y="56053"/>
                </a:lnTo>
                <a:lnTo>
                  <a:pt x="6217920" y="111809"/>
                </a:lnTo>
                <a:lnTo>
                  <a:pt x="6400800" y="184519"/>
                </a:lnTo>
                <a:lnTo>
                  <a:pt x="6583680" y="272548"/>
                </a:lnTo>
                <a:lnTo>
                  <a:pt x="6766560" y="373921"/>
                </a:lnTo>
                <a:lnTo>
                  <a:pt x="6949440" y="486360"/>
                </a:lnTo>
                <a:lnTo>
                  <a:pt x="7132320" y="607341"/>
                </a:lnTo>
                <a:lnTo>
                  <a:pt x="7315200" y="734146"/>
                </a:lnTo>
              </a:path>
            </a:pathLst>
          </a:custGeom>
          <a:noFill/>
          <a:ln w="9525">
            <a:solidFill>
              <a:srgbClr val="805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754880" y="1162272"/>
            <a:ext cx="7315200" cy="1735708"/>
          </a:xfrm>
          <a:custGeom>
            <a:avLst/>
            <a:gdLst/>
            <a:ahLst/>
            <a:cxnLst/>
            <a:rect l="l" t="t" r="r" b="b"/>
            <a:pathLst>
              <a:path w="7315200" h="1735708">
                <a:moveTo>
                  <a:pt x="0" y="1091016"/>
                </a:moveTo>
                <a:lnTo>
                  <a:pt x="182880" y="1213959"/>
                </a:lnTo>
                <a:lnTo>
                  <a:pt x="365760" y="1329126"/>
                </a:lnTo>
                <a:lnTo>
                  <a:pt x="548640" y="1433930"/>
                </a:lnTo>
                <a:lnTo>
                  <a:pt x="731520" y="1526018"/>
                </a:lnTo>
                <a:lnTo>
                  <a:pt x="914400" y="1603321"/>
                </a:lnTo>
                <a:lnTo>
                  <a:pt x="1097280" y="1664104"/>
                </a:lnTo>
                <a:lnTo>
                  <a:pt x="1280160" y="1707001"/>
                </a:lnTo>
                <a:lnTo>
                  <a:pt x="1463040" y="1731049"/>
                </a:lnTo>
                <a:lnTo>
                  <a:pt x="1645920" y="1735708"/>
                </a:lnTo>
                <a:lnTo>
                  <a:pt x="1828800" y="1720873"/>
                </a:lnTo>
                <a:lnTo>
                  <a:pt x="2011680" y="1686878"/>
                </a:lnTo>
                <a:lnTo>
                  <a:pt x="2194560" y="1634486"/>
                </a:lnTo>
                <a:lnTo>
                  <a:pt x="2377440" y="1564873"/>
                </a:lnTo>
                <a:lnTo>
                  <a:pt x="2560320" y="1479603"/>
                </a:lnTo>
                <a:lnTo>
                  <a:pt x="2743199" y="1380591"/>
                </a:lnTo>
                <a:lnTo>
                  <a:pt x="2926080" y="1270060"/>
                </a:lnTo>
                <a:lnTo>
                  <a:pt x="3108960" y="1150494"/>
                </a:lnTo>
                <a:lnTo>
                  <a:pt x="3291840" y="1024576"/>
                </a:lnTo>
                <a:lnTo>
                  <a:pt x="3474720" y="895135"/>
                </a:lnTo>
                <a:lnTo>
                  <a:pt x="3657600" y="765078"/>
                </a:lnTo>
                <a:lnTo>
                  <a:pt x="3840480" y="637325"/>
                </a:lnTo>
                <a:lnTo>
                  <a:pt x="4023360" y="514746"/>
                </a:lnTo>
                <a:lnTo>
                  <a:pt x="4206240" y="400093"/>
                </a:lnTo>
                <a:lnTo>
                  <a:pt x="4389120" y="295942"/>
                </a:lnTo>
                <a:lnTo>
                  <a:pt x="4572000" y="204631"/>
                </a:lnTo>
                <a:lnTo>
                  <a:pt x="4754880" y="128211"/>
                </a:lnTo>
                <a:lnTo>
                  <a:pt x="4937760" y="68399"/>
                </a:lnTo>
                <a:lnTo>
                  <a:pt x="5120640" y="26536"/>
                </a:lnTo>
                <a:lnTo>
                  <a:pt x="5303520" y="3565"/>
                </a:lnTo>
                <a:lnTo>
                  <a:pt x="5486400" y="0"/>
                </a:lnTo>
                <a:lnTo>
                  <a:pt x="5669280" y="15921"/>
                </a:lnTo>
                <a:lnTo>
                  <a:pt x="5852160" y="50972"/>
                </a:lnTo>
                <a:lnTo>
                  <a:pt x="6035040" y="104364"/>
                </a:lnTo>
                <a:lnTo>
                  <a:pt x="6217920" y="174899"/>
                </a:lnTo>
                <a:lnTo>
                  <a:pt x="6400800" y="260993"/>
                </a:lnTo>
                <a:lnTo>
                  <a:pt x="6583680" y="360712"/>
                </a:lnTo>
                <a:lnTo>
                  <a:pt x="6766560" y="471817"/>
                </a:lnTo>
                <a:lnTo>
                  <a:pt x="6949440" y="591813"/>
                </a:lnTo>
                <a:lnTo>
                  <a:pt x="7132320" y="718004"/>
                </a:lnTo>
                <a:lnTo>
                  <a:pt x="7315200" y="847557"/>
                </a:lnTo>
              </a:path>
            </a:pathLst>
          </a:custGeom>
          <a:noFill/>
          <a:ln w="9525">
            <a:solidFill>
              <a:srgbClr val="876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754880" y="1216483"/>
            <a:ext cx="7315200" cy="1736868"/>
          </a:xfrm>
          <a:custGeom>
            <a:avLst/>
            <a:gdLst/>
            <a:ahLst/>
            <a:cxnLst/>
            <a:rect l="l" t="t" r="r" b="b"/>
            <a:pathLst>
              <a:path w="7315200" h="1736868">
                <a:moveTo>
                  <a:pt x="0" y="1198611"/>
                </a:moveTo>
                <a:lnTo>
                  <a:pt x="182880" y="1314968"/>
                </a:lnTo>
                <a:lnTo>
                  <a:pt x="365760" y="1421296"/>
                </a:lnTo>
                <a:lnTo>
                  <a:pt x="548640" y="1515205"/>
                </a:lnTo>
                <a:lnTo>
                  <a:pt x="731520" y="1594588"/>
                </a:lnTo>
                <a:lnTo>
                  <a:pt x="914400" y="1657660"/>
                </a:lnTo>
                <a:lnTo>
                  <a:pt x="1097280" y="1703007"/>
                </a:lnTo>
                <a:lnTo>
                  <a:pt x="1280160" y="1729609"/>
                </a:lnTo>
                <a:lnTo>
                  <a:pt x="1463040" y="1736868"/>
                </a:lnTo>
                <a:lnTo>
                  <a:pt x="1645920" y="1724623"/>
                </a:lnTo>
                <a:lnTo>
                  <a:pt x="1828800" y="1693148"/>
                </a:lnTo>
                <a:lnTo>
                  <a:pt x="2011680" y="1643149"/>
                </a:lnTo>
                <a:lnTo>
                  <a:pt x="2194560" y="1575750"/>
                </a:lnTo>
                <a:lnTo>
                  <a:pt x="2377440" y="1492464"/>
                </a:lnTo>
                <a:lnTo>
                  <a:pt x="2560320" y="1395163"/>
                </a:lnTo>
                <a:lnTo>
                  <a:pt x="2743199" y="1286029"/>
                </a:lnTo>
                <a:lnTo>
                  <a:pt x="2926080" y="1167516"/>
                </a:lnTo>
                <a:lnTo>
                  <a:pt x="3108960" y="1042284"/>
                </a:lnTo>
                <a:lnTo>
                  <a:pt x="3291840" y="913146"/>
                </a:lnTo>
                <a:lnTo>
                  <a:pt x="3474720" y="783002"/>
                </a:lnTo>
                <a:lnTo>
                  <a:pt x="3657600" y="654774"/>
                </a:lnTo>
                <a:lnTo>
                  <a:pt x="3840480" y="531343"/>
                </a:lnTo>
                <a:lnTo>
                  <a:pt x="4023360" y="415481"/>
                </a:lnTo>
                <a:lnTo>
                  <a:pt x="4206240" y="309788"/>
                </a:lnTo>
                <a:lnTo>
                  <a:pt x="4389120" y="216640"/>
                </a:lnTo>
                <a:lnTo>
                  <a:pt x="4572000" y="138128"/>
                </a:lnTo>
                <a:lnTo>
                  <a:pt x="4754880" y="76015"/>
                </a:lnTo>
                <a:lnTo>
                  <a:pt x="4937760" y="31696"/>
                </a:lnTo>
                <a:lnTo>
                  <a:pt x="5120640" y="6166"/>
                </a:lnTo>
                <a:lnTo>
                  <a:pt x="5303520" y="0"/>
                </a:lnTo>
                <a:lnTo>
                  <a:pt x="5486400" y="13334"/>
                </a:lnTo>
                <a:lnTo>
                  <a:pt x="5669280" y="45870"/>
                </a:lnTo>
                <a:lnTo>
                  <a:pt x="5852160" y="96878"/>
                </a:lnTo>
                <a:lnTo>
                  <a:pt x="6035040" y="165211"/>
                </a:lnTo>
                <a:lnTo>
                  <a:pt x="6217920" y="249334"/>
                </a:lnTo>
                <a:lnTo>
                  <a:pt x="6400800" y="347360"/>
                </a:lnTo>
                <a:lnTo>
                  <a:pt x="6583680" y="457086"/>
                </a:lnTo>
                <a:lnTo>
                  <a:pt x="6766560" y="576048"/>
                </a:lnTo>
                <a:lnTo>
                  <a:pt x="6949440" y="701574"/>
                </a:lnTo>
                <a:lnTo>
                  <a:pt x="7132320" y="830846"/>
                </a:lnTo>
                <a:lnTo>
                  <a:pt x="7315200" y="960960"/>
                </a:lnTo>
              </a:path>
            </a:pathLst>
          </a:custGeom>
          <a:noFill/>
          <a:ln w="9525">
            <a:solidFill>
              <a:srgbClr val="8E6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4754880" y="1271041"/>
            <a:ext cx="7315200" cy="1737334"/>
          </a:xfrm>
          <a:custGeom>
            <a:avLst/>
            <a:gdLst/>
            <a:ahLst/>
            <a:cxnLst/>
            <a:rect l="l" t="t" r="r" b="b"/>
            <a:pathLst>
              <a:path w="7315200" h="1737334">
                <a:moveTo>
                  <a:pt x="0" y="1300284"/>
                </a:moveTo>
                <a:lnTo>
                  <a:pt x="182880" y="1408093"/>
                </a:lnTo>
                <a:lnTo>
                  <a:pt x="365760" y="1503786"/>
                </a:lnTo>
                <a:lnTo>
                  <a:pt x="548640" y="1585216"/>
                </a:lnTo>
                <a:lnTo>
                  <a:pt x="731520" y="1650554"/>
                </a:lnTo>
                <a:lnTo>
                  <a:pt x="914400" y="1698332"/>
                </a:lnTo>
                <a:lnTo>
                  <a:pt x="1097280" y="1727477"/>
                </a:lnTo>
                <a:lnTo>
                  <a:pt x="1280160" y="1737334"/>
                </a:lnTo>
                <a:lnTo>
                  <a:pt x="1463040" y="1727683"/>
                </a:lnTo>
                <a:lnTo>
                  <a:pt x="1645920" y="1698740"/>
                </a:lnTo>
                <a:lnTo>
                  <a:pt x="1828800" y="1651156"/>
                </a:lnTo>
                <a:lnTo>
                  <a:pt x="2011680" y="1585997"/>
                </a:lnTo>
                <a:lnTo>
                  <a:pt x="2194560" y="1504729"/>
                </a:lnTo>
                <a:lnTo>
                  <a:pt x="2377440" y="1409176"/>
                </a:lnTo>
                <a:lnTo>
                  <a:pt x="2560320" y="1301484"/>
                </a:lnTo>
                <a:lnTo>
                  <a:pt x="2743199" y="1184072"/>
                </a:lnTo>
                <a:lnTo>
                  <a:pt x="2926080" y="1059576"/>
                </a:lnTo>
                <a:lnTo>
                  <a:pt x="3108960" y="930792"/>
                </a:lnTo>
                <a:lnTo>
                  <a:pt x="3291840" y="800613"/>
                </a:lnTo>
                <a:lnTo>
                  <a:pt x="3474720" y="671962"/>
                </a:lnTo>
                <a:lnTo>
                  <a:pt x="3657600" y="547729"/>
                </a:lnTo>
                <a:lnTo>
                  <a:pt x="3840480" y="430702"/>
                </a:lnTo>
                <a:lnTo>
                  <a:pt x="4023360" y="323511"/>
                </a:lnTo>
                <a:lnTo>
                  <a:pt x="4206240" y="228563"/>
                </a:lnTo>
                <a:lnTo>
                  <a:pt x="4389120" y="147990"/>
                </a:lnTo>
                <a:lnTo>
                  <a:pt x="4572000" y="83601"/>
                </a:lnTo>
                <a:lnTo>
                  <a:pt x="4754880" y="36843"/>
                </a:lnTo>
                <a:lnTo>
                  <a:pt x="4937760" y="8766"/>
                </a:lnTo>
                <a:lnTo>
                  <a:pt x="5120640" y="0"/>
                </a:lnTo>
                <a:lnTo>
                  <a:pt x="5303520" y="10742"/>
                </a:lnTo>
                <a:lnTo>
                  <a:pt x="5486400" y="40751"/>
                </a:lnTo>
                <a:lnTo>
                  <a:pt x="5669280" y="89353"/>
                </a:lnTo>
                <a:lnTo>
                  <a:pt x="5852160" y="155456"/>
                </a:lnTo>
                <a:lnTo>
                  <a:pt x="6035040" y="237576"/>
                </a:lnTo>
                <a:lnTo>
                  <a:pt x="6217920" y="333869"/>
                </a:lnTo>
                <a:lnTo>
                  <a:pt x="6400800" y="442172"/>
                </a:lnTo>
                <a:lnTo>
                  <a:pt x="6583680" y="560053"/>
                </a:lnTo>
                <a:lnTo>
                  <a:pt x="6766560" y="684864"/>
                </a:lnTo>
                <a:lnTo>
                  <a:pt x="6949440" y="813803"/>
                </a:lnTo>
                <a:lnTo>
                  <a:pt x="7132320" y="943974"/>
                </a:lnTo>
                <a:lnTo>
                  <a:pt x="7315200" y="1072453"/>
                </a:lnTo>
              </a:path>
            </a:pathLst>
          </a:custGeom>
          <a:noFill/>
          <a:ln w="9525">
            <a:solidFill>
              <a:srgbClr val="956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4754880" y="1325946"/>
            <a:ext cx="7315200" cy="1737106"/>
          </a:xfrm>
          <a:custGeom>
            <a:avLst/>
            <a:gdLst/>
            <a:ahLst/>
            <a:cxnLst/>
            <a:rect l="l" t="t" r="r" b="b"/>
            <a:pathLst>
              <a:path w="7315200" h="1737106">
                <a:moveTo>
                  <a:pt x="0" y="1394327"/>
                </a:moveTo>
                <a:lnTo>
                  <a:pt x="182880" y="1491766"/>
                </a:lnTo>
                <a:lnTo>
                  <a:pt x="365760" y="1575211"/>
                </a:lnTo>
                <a:lnTo>
                  <a:pt x="548640" y="1642788"/>
                </a:lnTo>
                <a:lnTo>
                  <a:pt x="731520" y="1692977"/>
                </a:lnTo>
                <a:lnTo>
                  <a:pt x="914400" y="1724654"/>
                </a:lnTo>
                <a:lnTo>
                  <a:pt x="1097280" y="1737106"/>
                </a:lnTo>
                <a:lnTo>
                  <a:pt x="1280160" y="1730053"/>
                </a:lnTo>
                <a:lnTo>
                  <a:pt x="1463040" y="1703654"/>
                </a:lnTo>
                <a:lnTo>
                  <a:pt x="1645920" y="1658502"/>
                </a:lnTo>
                <a:lnTo>
                  <a:pt x="1828800" y="1595611"/>
                </a:lnTo>
                <a:lnTo>
                  <a:pt x="2011680" y="1516393"/>
                </a:lnTo>
                <a:lnTo>
                  <a:pt x="2194560" y="1422627"/>
                </a:lnTo>
                <a:lnTo>
                  <a:pt x="2377440" y="1316419"/>
                </a:lnTo>
                <a:lnTo>
                  <a:pt x="2560320" y="1200155"/>
                </a:lnTo>
                <a:lnTo>
                  <a:pt x="2743199" y="1076445"/>
                </a:lnTo>
                <a:lnTo>
                  <a:pt x="2926080" y="948067"/>
                </a:lnTo>
                <a:lnTo>
                  <a:pt x="3108960" y="817905"/>
                </a:lnTo>
                <a:lnTo>
                  <a:pt x="3291840" y="688882"/>
                </a:lnTo>
                <a:lnTo>
                  <a:pt x="3474720" y="563895"/>
                </a:lnTo>
                <a:lnTo>
                  <a:pt x="3657600" y="445752"/>
                </a:lnTo>
                <a:lnTo>
                  <a:pt x="3840480" y="337105"/>
                </a:lnTo>
                <a:lnTo>
                  <a:pt x="4023360" y="240394"/>
                </a:lnTo>
                <a:lnTo>
                  <a:pt x="4206240" y="157793"/>
                </a:lnTo>
                <a:lnTo>
                  <a:pt x="4389120" y="91154"/>
                </a:lnTo>
                <a:lnTo>
                  <a:pt x="4572000" y="41976"/>
                </a:lnTo>
                <a:lnTo>
                  <a:pt x="4754880" y="11362"/>
                </a:lnTo>
                <a:lnTo>
                  <a:pt x="4937760" y="0"/>
                </a:lnTo>
                <a:lnTo>
                  <a:pt x="5120640" y="8146"/>
                </a:lnTo>
                <a:lnTo>
                  <a:pt x="5303520" y="35615"/>
                </a:lnTo>
                <a:lnTo>
                  <a:pt x="5486400" y="81792"/>
                </a:lnTo>
                <a:lnTo>
                  <a:pt x="5669280" y="145639"/>
                </a:lnTo>
                <a:lnTo>
                  <a:pt x="5852160" y="225723"/>
                </a:lnTo>
                <a:lnTo>
                  <a:pt x="6035040" y="320245"/>
                </a:lnTo>
                <a:lnTo>
                  <a:pt x="6217920" y="427082"/>
                </a:lnTo>
                <a:lnTo>
                  <a:pt x="6400800" y="543834"/>
                </a:lnTo>
                <a:lnTo>
                  <a:pt x="6583680" y="667881"/>
                </a:lnTo>
                <a:lnTo>
                  <a:pt x="6766560" y="796435"/>
                </a:lnTo>
                <a:lnTo>
                  <a:pt x="6949440" y="926611"/>
                </a:lnTo>
                <a:lnTo>
                  <a:pt x="7132320" y="1055484"/>
                </a:lnTo>
                <a:lnTo>
                  <a:pt x="7315200" y="1180160"/>
                </a:lnTo>
              </a:path>
            </a:pathLst>
          </a:custGeom>
          <a:noFill/>
          <a:ln w="9525">
            <a:solidFill>
              <a:srgbClr val="9C6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4754880" y="1381199"/>
            <a:ext cx="7315200" cy="1736182"/>
          </a:xfrm>
          <a:custGeom>
            <a:avLst/>
            <a:gdLst/>
            <a:ahLst/>
            <a:cxnLst/>
            <a:rect l="l" t="t" r="r" b="b"/>
            <a:pathLst>
              <a:path w="7315200" h="1736182">
                <a:moveTo>
                  <a:pt x="0" y="1479149"/>
                </a:moveTo>
                <a:lnTo>
                  <a:pt x="182880" y="1564576"/>
                </a:lnTo>
                <a:lnTo>
                  <a:pt x="365760" y="1634364"/>
                </a:lnTo>
                <a:lnTo>
                  <a:pt x="548640" y="1686946"/>
                </a:lnTo>
                <a:lnTo>
                  <a:pt x="731520" y="1721141"/>
                </a:lnTo>
                <a:lnTo>
                  <a:pt x="914400" y="1736182"/>
                </a:lnTo>
                <a:lnTo>
                  <a:pt x="1097280" y="1731730"/>
                </a:lnTo>
                <a:lnTo>
                  <a:pt x="1280160" y="1707886"/>
                </a:lnTo>
                <a:lnTo>
                  <a:pt x="1463040" y="1665185"/>
                </a:lnTo>
                <a:lnTo>
                  <a:pt x="1645920" y="1604585"/>
                </a:lnTo>
                <a:lnTo>
                  <a:pt x="1828800" y="1527449"/>
                </a:lnTo>
                <a:lnTo>
                  <a:pt x="2011680" y="1435508"/>
                </a:lnTo>
                <a:lnTo>
                  <a:pt x="2194560" y="1330827"/>
                </a:lnTo>
                <a:lnTo>
                  <a:pt x="2377440" y="1215757"/>
                </a:lnTo>
                <a:lnTo>
                  <a:pt x="2560320" y="1092882"/>
                </a:lnTo>
                <a:lnTo>
                  <a:pt x="2743199" y="964962"/>
                </a:lnTo>
                <a:lnTo>
                  <a:pt x="2926080" y="834869"/>
                </a:lnTo>
                <a:lnTo>
                  <a:pt x="3108960" y="705525"/>
                </a:lnTo>
                <a:lnTo>
                  <a:pt x="3291840" y="579836"/>
                </a:lnTo>
                <a:lnTo>
                  <a:pt x="3474720" y="460622"/>
                </a:lnTo>
                <a:lnTo>
                  <a:pt x="3657600" y="350563"/>
                </a:lnTo>
                <a:lnTo>
                  <a:pt x="3840480" y="252129"/>
                </a:lnTo>
                <a:lnTo>
                  <a:pt x="4023360" y="167532"/>
                </a:lnTo>
                <a:lnTo>
                  <a:pt x="4206240" y="98670"/>
                </a:lnTo>
                <a:lnTo>
                  <a:pt x="4389120" y="47091"/>
                </a:lnTo>
                <a:lnTo>
                  <a:pt x="4572000" y="13953"/>
                </a:lnTo>
                <a:lnTo>
                  <a:pt x="4754880" y="0"/>
                </a:lnTo>
                <a:lnTo>
                  <a:pt x="4937760" y="5546"/>
                </a:lnTo>
                <a:lnTo>
                  <a:pt x="5120640" y="30465"/>
                </a:lnTo>
                <a:lnTo>
                  <a:pt x="5303520" y="74198"/>
                </a:lnTo>
                <a:lnTo>
                  <a:pt x="5486400" y="135764"/>
                </a:lnTo>
                <a:lnTo>
                  <a:pt x="5669280" y="213779"/>
                </a:lnTo>
                <a:lnTo>
                  <a:pt x="5852160" y="306492"/>
                </a:lnTo>
                <a:lnTo>
                  <a:pt x="6035040" y="411820"/>
                </a:lnTo>
                <a:lnTo>
                  <a:pt x="6217920" y="527398"/>
                </a:lnTo>
                <a:lnTo>
                  <a:pt x="6400800" y="650630"/>
                </a:lnTo>
                <a:lnTo>
                  <a:pt x="6583680" y="778748"/>
                </a:lnTo>
                <a:lnTo>
                  <a:pt x="6766560" y="908877"/>
                </a:lnTo>
                <a:lnTo>
                  <a:pt x="6949440" y="1038092"/>
                </a:lnTo>
                <a:lnTo>
                  <a:pt x="7132320" y="1163492"/>
                </a:lnTo>
                <a:lnTo>
                  <a:pt x="7315200" y="1282261"/>
                </a:lnTo>
              </a:path>
            </a:pathLst>
          </a:custGeom>
          <a:noFill/>
          <a:ln w="9525">
            <a:solidFill>
              <a:srgbClr val="A26D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4754880" y="1436799"/>
            <a:ext cx="7315200" cy="1734564"/>
          </a:xfrm>
          <a:custGeom>
            <a:avLst/>
            <a:gdLst/>
            <a:ahLst/>
            <a:cxnLst/>
            <a:rect l="l" t="t" r="r" b="b"/>
            <a:pathLst>
              <a:path w="7315200" h="1734564">
                <a:moveTo>
                  <a:pt x="0" y="1553315"/>
                </a:moveTo>
                <a:lnTo>
                  <a:pt x="182880" y="1625286"/>
                </a:lnTo>
                <a:lnTo>
                  <a:pt x="365760" y="1680239"/>
                </a:lnTo>
                <a:lnTo>
                  <a:pt x="548640" y="1716940"/>
                </a:lnTo>
                <a:lnTo>
                  <a:pt x="731520" y="1734564"/>
                </a:lnTo>
                <a:lnTo>
                  <a:pt x="914400" y="1732715"/>
                </a:lnTo>
                <a:lnTo>
                  <a:pt x="1097280" y="1711435"/>
                </a:lnTo>
                <a:lnTo>
                  <a:pt x="1280160" y="1671201"/>
                </a:lnTo>
                <a:lnTo>
                  <a:pt x="1463040" y="1612918"/>
                </a:lnTo>
                <a:lnTo>
                  <a:pt x="1645920" y="1537895"/>
                </a:lnTo>
                <a:lnTo>
                  <a:pt x="1828800" y="1447815"/>
                </a:lnTo>
                <a:lnTo>
                  <a:pt x="2011680" y="1344703"/>
                </a:lnTo>
                <a:lnTo>
                  <a:pt x="2194560" y="1230873"/>
                </a:lnTo>
                <a:lnTo>
                  <a:pt x="2377440" y="1108882"/>
                </a:lnTo>
                <a:lnTo>
                  <a:pt x="2560320" y="981471"/>
                </a:lnTo>
                <a:lnTo>
                  <a:pt x="2743199" y="851499"/>
                </a:lnTo>
                <a:lnTo>
                  <a:pt x="2926080" y="721887"/>
                </a:lnTo>
                <a:lnTo>
                  <a:pt x="3108960" y="595544"/>
                </a:lnTo>
                <a:lnTo>
                  <a:pt x="3291840" y="475309"/>
                </a:lnTo>
                <a:lnTo>
                  <a:pt x="3474720" y="363882"/>
                </a:lnTo>
                <a:lnTo>
                  <a:pt x="3657600" y="263764"/>
                </a:lnTo>
                <a:lnTo>
                  <a:pt x="3840480" y="177204"/>
                </a:lnTo>
                <a:lnTo>
                  <a:pt x="4023360" y="106147"/>
                </a:lnTo>
                <a:lnTo>
                  <a:pt x="4206240" y="52188"/>
                </a:lnTo>
                <a:lnTo>
                  <a:pt x="4389120" y="16539"/>
                </a:lnTo>
                <a:lnTo>
                  <a:pt x="4572000" y="0"/>
                </a:lnTo>
                <a:lnTo>
                  <a:pt x="4754880" y="2944"/>
                </a:lnTo>
                <a:lnTo>
                  <a:pt x="4937760" y="25303"/>
                </a:lnTo>
                <a:lnTo>
                  <a:pt x="5120640" y="66575"/>
                </a:lnTo>
                <a:lnTo>
                  <a:pt x="5303520" y="125835"/>
                </a:lnTo>
                <a:lnTo>
                  <a:pt x="5486400" y="201750"/>
                </a:lnTo>
                <a:lnTo>
                  <a:pt x="5669280" y="292617"/>
                </a:lnTo>
                <a:lnTo>
                  <a:pt x="5852160" y="396394"/>
                </a:lnTo>
                <a:lnTo>
                  <a:pt x="6035040" y="510750"/>
                </a:lnTo>
                <a:lnTo>
                  <a:pt x="6217920" y="633119"/>
                </a:lnTo>
                <a:lnTo>
                  <a:pt x="6400800" y="760750"/>
                </a:lnTo>
                <a:lnTo>
                  <a:pt x="6583680" y="890779"/>
                </a:lnTo>
                <a:lnTo>
                  <a:pt x="6766560" y="1020285"/>
                </a:lnTo>
                <a:lnTo>
                  <a:pt x="6949440" y="1146359"/>
                </a:lnTo>
                <a:lnTo>
                  <a:pt x="7132320" y="1266170"/>
                </a:lnTo>
                <a:lnTo>
                  <a:pt x="7315200" y="1377028"/>
                </a:lnTo>
              </a:path>
            </a:pathLst>
          </a:custGeom>
          <a:noFill/>
          <a:ln w="9525">
            <a:solidFill>
              <a:srgbClr val="A97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4754880" y="1492747"/>
            <a:ext cx="7315200" cy="1733005"/>
          </a:xfrm>
          <a:custGeom>
            <a:avLst/>
            <a:gdLst/>
            <a:ahLst/>
            <a:cxnLst/>
            <a:rect l="l" t="t" r="r" b="b"/>
            <a:pathLst>
              <a:path w="7315200" h="1733005">
                <a:moveTo>
                  <a:pt x="0" y="1615558"/>
                </a:moveTo>
                <a:lnTo>
                  <a:pt x="182880" y="1672860"/>
                </a:lnTo>
                <a:lnTo>
                  <a:pt x="365760" y="1712051"/>
                </a:lnTo>
                <a:lnTo>
                  <a:pt x="548640" y="1732251"/>
                </a:lnTo>
                <a:lnTo>
                  <a:pt x="731520" y="1733005"/>
                </a:lnTo>
                <a:lnTo>
                  <a:pt x="914400" y="1714298"/>
                </a:lnTo>
                <a:lnTo>
                  <a:pt x="1097280" y="1676549"/>
                </a:lnTo>
                <a:lnTo>
                  <a:pt x="1280160" y="1620605"/>
                </a:lnTo>
                <a:lnTo>
                  <a:pt x="1463040" y="1547724"/>
                </a:lnTo>
                <a:lnTo>
                  <a:pt x="1645920" y="1459542"/>
                </a:lnTo>
                <a:lnTo>
                  <a:pt x="1828800" y="1358039"/>
                </a:lnTo>
                <a:lnTo>
                  <a:pt x="2011680" y="1245496"/>
                </a:lnTo>
                <a:lnTo>
                  <a:pt x="2194560" y="1124438"/>
                </a:lnTo>
                <a:lnTo>
                  <a:pt x="2377440" y="997586"/>
                </a:lnTo>
                <a:lnTo>
                  <a:pt x="2560320" y="867788"/>
                </a:lnTo>
                <a:lnTo>
                  <a:pt x="2743199" y="737959"/>
                </a:lnTo>
                <a:lnTo>
                  <a:pt x="2926080" y="611014"/>
                </a:lnTo>
                <a:lnTo>
                  <a:pt x="3108960" y="489805"/>
                </a:lnTo>
                <a:lnTo>
                  <a:pt x="3291840" y="377053"/>
                </a:lnTo>
                <a:lnTo>
                  <a:pt x="3474720" y="275292"/>
                </a:lnTo>
                <a:lnTo>
                  <a:pt x="3657600" y="186805"/>
                </a:lnTo>
                <a:lnTo>
                  <a:pt x="3840480" y="113581"/>
                </a:lnTo>
                <a:lnTo>
                  <a:pt x="4023360" y="57263"/>
                </a:lnTo>
                <a:lnTo>
                  <a:pt x="4206240" y="19117"/>
                </a:lnTo>
                <a:lnTo>
                  <a:pt x="4389120" y="0"/>
                </a:lnTo>
                <a:lnTo>
                  <a:pt x="4572000" y="339"/>
                </a:lnTo>
                <a:lnTo>
                  <a:pt x="4754880" y="20129"/>
                </a:lnTo>
                <a:lnTo>
                  <a:pt x="4937760" y="58925"/>
                </a:lnTo>
                <a:lnTo>
                  <a:pt x="5120640" y="115854"/>
                </a:lnTo>
                <a:lnTo>
                  <a:pt x="5303520" y="189640"/>
                </a:lnTo>
                <a:lnTo>
                  <a:pt x="5486400" y="278624"/>
                </a:lnTo>
                <a:lnTo>
                  <a:pt x="5669280" y="380808"/>
                </a:lnTo>
                <a:lnTo>
                  <a:pt x="5852160" y="493898"/>
                </a:lnTo>
                <a:lnTo>
                  <a:pt x="6035040" y="615353"/>
                </a:lnTo>
                <a:lnTo>
                  <a:pt x="6217920" y="742447"/>
                </a:lnTo>
                <a:lnTo>
                  <a:pt x="6400800" y="872324"/>
                </a:lnTo>
                <a:lnTo>
                  <a:pt x="6583680" y="1002069"/>
                </a:lnTo>
                <a:lnTo>
                  <a:pt x="6766560" y="1128766"/>
                </a:lnTo>
                <a:lnTo>
                  <a:pt x="6949440" y="1249572"/>
                </a:lnTo>
                <a:lnTo>
                  <a:pt x="7132320" y="1361773"/>
                </a:lnTo>
                <a:lnTo>
                  <a:pt x="7315200" y="1462848"/>
                </a:lnTo>
              </a:path>
            </a:pathLst>
          </a:custGeom>
          <a:noFill/>
          <a:ln w="9525">
            <a:solidFill>
              <a:srgbClr val="B073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4754880" y="1546777"/>
            <a:ext cx="7315200" cy="1734867"/>
          </a:xfrm>
          <a:custGeom>
            <a:avLst/>
            <a:gdLst/>
            <a:ahLst/>
            <a:cxnLst/>
            <a:rect l="l" t="t" r="r" b="b"/>
            <a:pathLst>
              <a:path w="7315200" h="1734867">
                <a:moveTo>
                  <a:pt x="0" y="1667076"/>
                </a:moveTo>
                <a:lnTo>
                  <a:pt x="182880" y="1708742"/>
                </a:lnTo>
                <a:lnTo>
                  <a:pt x="365760" y="1731509"/>
                </a:lnTo>
                <a:lnTo>
                  <a:pt x="548640" y="1734867"/>
                </a:lnTo>
                <a:lnTo>
                  <a:pt x="731520" y="1718740"/>
                </a:lnTo>
                <a:lnTo>
                  <a:pt x="914400" y="1683490"/>
                </a:lnTo>
                <a:lnTo>
                  <a:pt x="1097280" y="1629908"/>
                </a:lnTo>
                <a:lnTo>
                  <a:pt x="1280160" y="1559199"/>
                </a:lnTo>
                <a:lnTo>
                  <a:pt x="1463040" y="1472950"/>
                </a:lnTo>
                <a:lnTo>
                  <a:pt x="1645920" y="1373097"/>
                </a:lnTo>
                <a:lnTo>
                  <a:pt x="1828800" y="1261885"/>
                </a:lnTo>
                <a:lnTo>
                  <a:pt x="2011680" y="1141809"/>
                </a:lnTo>
                <a:lnTo>
                  <a:pt x="2194560" y="1015567"/>
                </a:lnTo>
                <a:lnTo>
                  <a:pt x="2377440" y="885994"/>
                </a:lnTo>
                <a:lnTo>
                  <a:pt x="2560320" y="756000"/>
                </a:lnTo>
                <a:lnTo>
                  <a:pt x="2743199" y="628504"/>
                </a:lnTo>
                <a:lnTo>
                  <a:pt x="2926080" y="506369"/>
                </a:lnTo>
                <a:lnTo>
                  <a:pt x="3108960" y="392339"/>
                </a:lnTo>
                <a:lnTo>
                  <a:pt x="3291840" y="288974"/>
                </a:lnTo>
                <a:lnTo>
                  <a:pt x="3474720" y="198595"/>
                </a:lnTo>
                <a:lnTo>
                  <a:pt x="3657600" y="123233"/>
                </a:lnTo>
                <a:lnTo>
                  <a:pt x="3840480" y="64580"/>
                </a:lnTo>
                <a:lnTo>
                  <a:pt x="4023360" y="23952"/>
                </a:lnTo>
                <a:lnTo>
                  <a:pt x="4206240" y="2263"/>
                </a:lnTo>
                <a:lnTo>
                  <a:pt x="4389120" y="0"/>
                </a:lnTo>
                <a:lnTo>
                  <a:pt x="4572000" y="17212"/>
                </a:lnTo>
                <a:lnTo>
                  <a:pt x="4754880" y="53515"/>
                </a:lnTo>
                <a:lnTo>
                  <a:pt x="4937760" y="108092"/>
                </a:lnTo>
                <a:lnTo>
                  <a:pt x="5120640" y="179718"/>
                </a:lnTo>
                <a:lnTo>
                  <a:pt x="5303520" y="266784"/>
                </a:lnTo>
                <a:lnTo>
                  <a:pt x="5486400" y="367335"/>
                </a:lnTo>
                <a:lnTo>
                  <a:pt x="5669280" y="479112"/>
                </a:lnTo>
                <a:lnTo>
                  <a:pt x="5852160" y="599606"/>
                </a:lnTo>
                <a:lnTo>
                  <a:pt x="6035040" y="726111"/>
                </a:lnTo>
                <a:lnTo>
                  <a:pt x="6217920" y="855785"/>
                </a:lnTo>
                <a:lnTo>
                  <a:pt x="6400800" y="985716"/>
                </a:lnTo>
                <a:lnTo>
                  <a:pt x="6583680" y="1112987"/>
                </a:lnTo>
                <a:lnTo>
                  <a:pt x="6766560" y="1234738"/>
                </a:lnTo>
                <a:lnTo>
                  <a:pt x="6949440" y="1348237"/>
                </a:lnTo>
                <a:lnTo>
                  <a:pt x="7132320" y="1450933"/>
                </a:lnTo>
                <a:lnTo>
                  <a:pt x="7315200" y="1540520"/>
                </a:lnTo>
              </a:path>
            </a:pathLst>
          </a:custGeom>
          <a:noFill/>
          <a:ln w="9525">
            <a:solidFill>
              <a:srgbClr val="B776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4754880" y="1600814"/>
            <a:ext cx="7315200" cy="1736375"/>
          </a:xfrm>
          <a:custGeom>
            <a:avLst/>
            <a:gdLst/>
            <a:ahLst/>
            <a:cxnLst/>
            <a:rect l="l" t="t" r="r" b="b"/>
            <a:pathLst>
              <a:path w="7315200" h="1736375">
                <a:moveTo>
                  <a:pt x="0" y="1705089"/>
                </a:moveTo>
                <a:lnTo>
                  <a:pt x="182880" y="1730415"/>
                </a:lnTo>
                <a:lnTo>
                  <a:pt x="365760" y="1736375"/>
                </a:lnTo>
                <a:lnTo>
                  <a:pt x="548640" y="1722834"/>
                </a:lnTo>
                <a:lnTo>
                  <a:pt x="731520" y="1690097"/>
                </a:lnTo>
                <a:lnTo>
                  <a:pt x="914400" y="1638899"/>
                </a:lnTo>
                <a:lnTo>
                  <a:pt x="1097280" y="1570390"/>
                </a:lnTo>
                <a:lnTo>
                  <a:pt x="1280160" y="1486108"/>
                </a:lnTo>
                <a:lnTo>
                  <a:pt x="1463040" y="1387946"/>
                </a:lnTo>
                <a:lnTo>
                  <a:pt x="1645920" y="1278109"/>
                </a:lnTo>
                <a:lnTo>
                  <a:pt x="1828800" y="1159063"/>
                </a:lnTo>
                <a:lnTo>
                  <a:pt x="2011680" y="1033482"/>
                </a:lnTo>
                <a:lnTo>
                  <a:pt x="2194560" y="904186"/>
                </a:lnTo>
                <a:lnTo>
                  <a:pt x="2377440" y="774079"/>
                </a:lnTo>
                <a:lnTo>
                  <a:pt x="2560320" y="646082"/>
                </a:lnTo>
                <a:lnTo>
                  <a:pt x="2743199" y="523071"/>
                </a:lnTo>
                <a:lnTo>
                  <a:pt x="2926080" y="407807"/>
                </a:lnTo>
                <a:lnTo>
                  <a:pt x="3108960" y="302880"/>
                </a:lnTo>
                <a:lnTo>
                  <a:pt x="3291840" y="210646"/>
                </a:lnTo>
                <a:lnTo>
                  <a:pt x="3474720" y="133176"/>
                </a:lnTo>
                <a:lnTo>
                  <a:pt x="3657600" y="72210"/>
                </a:lnTo>
                <a:lnTo>
                  <a:pt x="3840480" y="29118"/>
                </a:lnTo>
                <a:lnTo>
                  <a:pt x="4023360" y="4866"/>
                </a:lnTo>
                <a:lnTo>
                  <a:pt x="4206240" y="0"/>
                </a:lnTo>
                <a:lnTo>
                  <a:pt x="4389120" y="14629"/>
                </a:lnTo>
                <a:lnTo>
                  <a:pt x="4572000" y="48424"/>
                </a:lnTo>
                <a:lnTo>
                  <a:pt x="4754880" y="100626"/>
                </a:lnTo>
                <a:lnTo>
                  <a:pt x="4937760" y="170064"/>
                </a:lnTo>
                <a:lnTo>
                  <a:pt x="5120640" y="255177"/>
                </a:lnTo>
                <a:lnTo>
                  <a:pt x="5303520" y="354054"/>
                </a:lnTo>
                <a:lnTo>
                  <a:pt x="5486400" y="464475"/>
                </a:lnTo>
                <a:lnTo>
                  <a:pt x="5669280" y="583960"/>
                </a:lnTo>
                <a:lnTo>
                  <a:pt x="5852160" y="709825"/>
                </a:lnTo>
                <a:lnTo>
                  <a:pt x="6035040" y="839243"/>
                </a:lnTo>
                <a:lnTo>
                  <a:pt x="6217920" y="969309"/>
                </a:lnTo>
                <a:lnTo>
                  <a:pt x="6400800" y="1097102"/>
                </a:lnTo>
                <a:lnTo>
                  <a:pt x="6583680" y="1219751"/>
                </a:lnTo>
                <a:lnTo>
                  <a:pt x="6766560" y="1334501"/>
                </a:lnTo>
                <a:lnTo>
                  <a:pt x="6949440" y="1438777"/>
                </a:lnTo>
                <a:lnTo>
                  <a:pt x="7132320" y="1530235"/>
                </a:lnTo>
                <a:lnTo>
                  <a:pt x="7315200" y="1606823"/>
                </a:lnTo>
              </a:path>
            </a:pathLst>
          </a:custGeom>
          <a:noFill/>
          <a:ln w="9525">
            <a:solidFill>
              <a:srgbClr val="BE7A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4754880" y="1655198"/>
            <a:ext cx="7315200" cy="1737189"/>
          </a:xfrm>
          <a:custGeom>
            <a:avLst/>
            <a:gdLst/>
            <a:ahLst/>
            <a:cxnLst/>
            <a:rect l="l" t="t" r="r" b="b"/>
            <a:pathLst>
              <a:path w="7315200" h="1737189">
                <a:moveTo>
                  <a:pt x="0" y="1728630"/>
                </a:moveTo>
                <a:lnTo>
                  <a:pt x="182880" y="1737189"/>
                </a:lnTo>
                <a:lnTo>
                  <a:pt x="365760" y="1726240"/>
                </a:lnTo>
                <a:lnTo>
                  <a:pt x="548640" y="1696029"/>
                </a:lnTo>
                <a:lnTo>
                  <a:pt x="731520" y="1647235"/>
                </a:lnTo>
                <a:lnTo>
                  <a:pt x="914400" y="1580953"/>
                </a:lnTo>
                <a:lnTo>
                  <a:pt x="1097280" y="1498672"/>
                </a:lnTo>
                <a:lnTo>
                  <a:pt x="1280160" y="1402240"/>
                </a:lnTo>
                <a:lnTo>
                  <a:pt x="1463040" y="1293822"/>
                </a:lnTo>
                <a:lnTo>
                  <a:pt x="1645920" y="1175854"/>
                </a:lnTo>
                <a:lnTo>
                  <a:pt x="1828800" y="1050983"/>
                </a:lnTo>
                <a:lnTo>
                  <a:pt x="2011680" y="922016"/>
                </a:lnTo>
                <a:lnTo>
                  <a:pt x="2194560" y="791848"/>
                </a:lnTo>
                <a:lnTo>
                  <a:pt x="2377440" y="663402"/>
                </a:lnTo>
                <a:lnTo>
                  <a:pt x="2560320" y="539563"/>
                </a:lnTo>
                <a:lnTo>
                  <a:pt x="2743199" y="423113"/>
                </a:lnTo>
                <a:lnTo>
                  <a:pt x="2926080" y="316666"/>
                </a:lnTo>
                <a:lnTo>
                  <a:pt x="3108960" y="222613"/>
                </a:lnTo>
                <a:lnTo>
                  <a:pt x="3291840" y="143066"/>
                </a:lnTo>
                <a:lnTo>
                  <a:pt x="3474720" y="79813"/>
                </a:lnTo>
                <a:lnTo>
                  <a:pt x="3657600" y="34272"/>
                </a:lnTo>
                <a:lnTo>
                  <a:pt x="3840480" y="7467"/>
                </a:lnTo>
                <a:lnTo>
                  <a:pt x="4023360" y="0"/>
                </a:lnTo>
                <a:lnTo>
                  <a:pt x="4206240" y="12039"/>
                </a:lnTo>
                <a:lnTo>
                  <a:pt x="4389120" y="43313"/>
                </a:lnTo>
                <a:lnTo>
                  <a:pt x="4572000" y="93120"/>
                </a:lnTo>
                <a:lnTo>
                  <a:pt x="4754880" y="160342"/>
                </a:lnTo>
                <a:lnTo>
                  <a:pt x="4937760" y="243468"/>
                </a:lnTo>
                <a:lnTo>
                  <a:pt x="5120640" y="340632"/>
                </a:lnTo>
                <a:lnTo>
                  <a:pt x="5303520" y="449652"/>
                </a:lnTo>
                <a:lnTo>
                  <a:pt x="5486400" y="568079"/>
                </a:lnTo>
                <a:lnTo>
                  <a:pt x="5669280" y="693254"/>
                </a:lnTo>
                <a:lnTo>
                  <a:pt x="5852160" y="822366"/>
                </a:lnTo>
                <a:lnTo>
                  <a:pt x="6035040" y="952515"/>
                </a:lnTo>
                <a:lnTo>
                  <a:pt x="6217920" y="1080778"/>
                </a:lnTo>
                <a:lnTo>
                  <a:pt x="6400800" y="1204275"/>
                </a:lnTo>
                <a:lnTo>
                  <a:pt x="6583680" y="1320232"/>
                </a:lnTo>
                <a:lnTo>
                  <a:pt x="6766560" y="1426045"/>
                </a:lnTo>
                <a:lnTo>
                  <a:pt x="6949440" y="1519338"/>
                </a:lnTo>
                <a:lnTo>
                  <a:pt x="7132320" y="1598016"/>
                </a:lnTo>
                <a:lnTo>
                  <a:pt x="7315200" y="1660311"/>
                </a:lnTo>
              </a:path>
            </a:pathLst>
          </a:custGeom>
          <a:noFill/>
          <a:ln w="9525">
            <a:solidFill>
              <a:srgbClr val="C47D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4754880" y="1709930"/>
            <a:ext cx="7315200" cy="1737307"/>
          </a:xfrm>
          <a:custGeom>
            <a:avLst/>
            <a:gdLst/>
            <a:ahLst/>
            <a:cxnLst/>
            <a:rect l="l" t="t" r="r" b="b"/>
            <a:pathLst>
              <a:path w="7315200" h="1737307">
                <a:moveTo>
                  <a:pt x="0" y="1737307"/>
                </a:moveTo>
                <a:lnTo>
                  <a:pt x="182880" y="1728955"/>
                </a:lnTo>
                <a:lnTo>
                  <a:pt x="365760" y="1701282"/>
                </a:lnTo>
                <a:lnTo>
                  <a:pt x="548640" y="1654912"/>
                </a:lnTo>
                <a:lnTo>
                  <a:pt x="731520" y="1590884"/>
                </a:lnTo>
                <a:lnTo>
                  <a:pt x="914400" y="1510637"/>
                </a:lnTo>
                <a:lnTo>
                  <a:pt x="1097280" y="1415973"/>
                </a:lnTo>
                <a:lnTo>
                  <a:pt x="1280160" y="1309017"/>
                </a:lnTo>
                <a:lnTo>
                  <a:pt x="1463040" y="1192173"/>
                </a:lnTo>
                <a:lnTo>
                  <a:pt x="1645920" y="1068064"/>
                </a:lnTo>
                <a:lnTo>
                  <a:pt x="1828800" y="939477"/>
                </a:lnTo>
                <a:lnTo>
                  <a:pt x="2011680" y="809300"/>
                </a:lnTo>
                <a:lnTo>
                  <a:pt x="2194560" y="680456"/>
                </a:lnTo>
                <a:lnTo>
                  <a:pt x="2377440" y="555840"/>
                </a:lnTo>
                <a:lnTo>
                  <a:pt x="2560320" y="438249"/>
                </a:lnTo>
                <a:lnTo>
                  <a:pt x="2743199" y="330324"/>
                </a:lnTo>
                <a:lnTo>
                  <a:pt x="2926080" y="234490"/>
                </a:lnTo>
                <a:lnTo>
                  <a:pt x="3108960" y="152899"/>
                </a:lnTo>
                <a:lnTo>
                  <a:pt x="3291840" y="87382"/>
                </a:lnTo>
                <a:lnTo>
                  <a:pt x="3474720" y="39411"/>
                </a:lnTo>
                <a:lnTo>
                  <a:pt x="3657600" y="10064"/>
                </a:lnTo>
                <a:lnTo>
                  <a:pt x="3840480" y="0"/>
                </a:lnTo>
                <a:lnTo>
                  <a:pt x="4023360" y="9444"/>
                </a:lnTo>
                <a:lnTo>
                  <a:pt x="4206240" y="38185"/>
                </a:lnTo>
                <a:lnTo>
                  <a:pt x="4389120" y="85577"/>
                </a:lnTo>
                <a:lnTo>
                  <a:pt x="4572000" y="150555"/>
                </a:lnTo>
                <a:lnTo>
                  <a:pt x="4754880" y="231661"/>
                </a:lnTo>
                <a:lnTo>
                  <a:pt x="4937760" y="327073"/>
                </a:lnTo>
                <a:lnTo>
                  <a:pt x="5120640" y="434649"/>
                </a:lnTo>
                <a:lnTo>
                  <a:pt x="5303520" y="551971"/>
                </a:lnTo>
                <a:lnTo>
                  <a:pt x="5486400" y="676406"/>
                </a:lnTo>
                <a:lnTo>
                  <a:pt x="5669280" y="805160"/>
                </a:lnTo>
                <a:lnTo>
                  <a:pt x="5852160" y="935339"/>
                </a:lnTo>
                <a:lnTo>
                  <a:pt x="6035040" y="1064022"/>
                </a:lnTo>
                <a:lnTo>
                  <a:pt x="6217920" y="1188317"/>
                </a:lnTo>
                <a:lnTo>
                  <a:pt x="6400800" y="1305435"/>
                </a:lnTo>
                <a:lnTo>
                  <a:pt x="6583680" y="1412743"/>
                </a:lnTo>
                <a:lnTo>
                  <a:pt x="6766560" y="1507833"/>
                </a:lnTo>
                <a:lnTo>
                  <a:pt x="6949440" y="1588569"/>
                </a:lnTo>
                <a:lnTo>
                  <a:pt x="7132320" y="1653138"/>
                </a:lnTo>
                <a:lnTo>
                  <a:pt x="7315200" y="1700089"/>
                </a:lnTo>
              </a:path>
            </a:pathLst>
          </a:custGeom>
          <a:noFill/>
          <a:ln w="9525">
            <a:solidFill>
              <a:srgbClr val="CB8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4754880" y="1765009"/>
            <a:ext cx="7315200" cy="1730978"/>
          </a:xfrm>
          <a:custGeom>
            <a:avLst/>
            <a:gdLst/>
            <a:ahLst/>
            <a:cxnLst/>
            <a:rect l="l" t="t" r="r" b="b"/>
            <a:pathLst>
              <a:path w="7315200" h="1730978">
                <a:moveTo>
                  <a:pt x="0" y="1730978"/>
                </a:moveTo>
                <a:lnTo>
                  <a:pt x="182880" y="1705855"/>
                </a:lnTo>
                <a:lnTo>
                  <a:pt x="365760" y="1661926"/>
                </a:lnTo>
                <a:lnTo>
                  <a:pt x="548640" y="1600178"/>
                </a:lnTo>
                <a:lnTo>
                  <a:pt x="731520" y="1521997"/>
                </a:lnTo>
                <a:lnTo>
                  <a:pt x="914400" y="1429139"/>
                </a:lnTo>
                <a:lnTo>
                  <a:pt x="1097280" y="1323689"/>
                </a:lnTo>
                <a:lnTo>
                  <a:pt x="1280160" y="1208016"/>
                </a:lnTo>
                <a:lnTo>
                  <a:pt x="1463040" y="1084718"/>
                </a:lnTo>
                <a:lnTo>
                  <a:pt x="1645920" y="956562"/>
                </a:lnTo>
                <a:lnTo>
                  <a:pt x="1828800" y="826428"/>
                </a:lnTo>
                <a:lnTo>
                  <a:pt x="2011680" y="697239"/>
                </a:lnTo>
                <a:lnTo>
                  <a:pt x="2194560" y="571894"/>
                </a:lnTo>
                <a:lnTo>
                  <a:pt x="2377440" y="453210"/>
                </a:lnTo>
                <a:lnTo>
                  <a:pt x="2560320" y="343851"/>
                </a:lnTo>
                <a:lnTo>
                  <a:pt x="2743199" y="246274"/>
                </a:lnTo>
                <a:lnTo>
                  <a:pt x="2926080" y="162670"/>
                </a:lnTo>
                <a:lnTo>
                  <a:pt x="3108960" y="94917"/>
                </a:lnTo>
                <a:lnTo>
                  <a:pt x="3291840" y="44536"/>
                </a:lnTo>
                <a:lnTo>
                  <a:pt x="3474720" y="12658"/>
                </a:lnTo>
                <a:lnTo>
                  <a:pt x="3657600" y="0"/>
                </a:lnTo>
                <a:lnTo>
                  <a:pt x="3840480" y="6846"/>
                </a:lnTo>
                <a:lnTo>
                  <a:pt x="4023360" y="33042"/>
                </a:lnTo>
                <a:lnTo>
                  <a:pt x="4206240" y="77999"/>
                </a:lnTo>
                <a:lnTo>
                  <a:pt x="4389120" y="140709"/>
                </a:lnTo>
                <a:lnTo>
                  <a:pt x="4572000" y="219762"/>
                </a:lnTo>
                <a:lnTo>
                  <a:pt x="4754880" y="313384"/>
                </a:lnTo>
                <a:lnTo>
                  <a:pt x="4937760" y="419472"/>
                </a:lnTo>
                <a:lnTo>
                  <a:pt x="5120640" y="535643"/>
                </a:lnTo>
                <a:lnTo>
                  <a:pt x="5303520" y="659288"/>
                </a:lnTo>
                <a:lnTo>
                  <a:pt x="5486400" y="787631"/>
                </a:lnTo>
                <a:lnTo>
                  <a:pt x="5669280" y="917790"/>
                </a:lnTo>
                <a:lnTo>
                  <a:pt x="5852160" y="1046840"/>
                </a:lnTo>
                <a:lnTo>
                  <a:pt x="6035040" y="1171885"/>
                </a:lnTo>
                <a:lnTo>
                  <a:pt x="6217920" y="1290115"/>
                </a:lnTo>
                <a:lnTo>
                  <a:pt x="6400800" y="1398876"/>
                </a:lnTo>
                <a:lnTo>
                  <a:pt x="6583680" y="1495725"/>
                </a:lnTo>
                <a:lnTo>
                  <a:pt x="6766560" y="1578487"/>
                </a:lnTo>
                <a:lnTo>
                  <a:pt x="6949440" y="1645304"/>
                </a:lnTo>
                <a:lnTo>
                  <a:pt x="7132320" y="1694674"/>
                </a:lnTo>
                <a:lnTo>
                  <a:pt x="7315200" y="1725489"/>
                </a:lnTo>
              </a:path>
            </a:pathLst>
          </a:custGeom>
          <a:noFill/>
          <a:ln w="9525">
            <a:solidFill>
              <a:srgbClr val="D283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754880" y="1820436"/>
            <a:ext cx="7315200" cy="1736078"/>
          </a:xfrm>
          <a:custGeom>
            <a:avLst/>
            <a:gdLst/>
            <a:ahLst/>
            <a:cxnLst/>
            <a:rect l="l" t="t" r="r" b="b"/>
            <a:pathLst>
              <a:path w="7315200" h="1736078">
                <a:moveTo>
                  <a:pt x="0" y="1709745"/>
                </a:moveTo>
                <a:lnTo>
                  <a:pt x="182880" y="1668276"/>
                </a:lnTo>
                <a:lnTo>
                  <a:pt x="365760" y="1608832"/>
                </a:lnTo>
                <a:lnTo>
                  <a:pt x="548640" y="1532748"/>
                </a:lnTo>
                <a:lnTo>
                  <a:pt x="731520" y="1441733"/>
                </a:lnTo>
                <a:lnTo>
                  <a:pt x="914400" y="1337831"/>
                </a:lnTo>
                <a:lnTo>
                  <a:pt x="1097280" y="1223376"/>
                </a:lnTo>
                <a:lnTo>
                  <a:pt x="1280160" y="1100937"/>
                </a:lnTo>
                <a:lnTo>
                  <a:pt x="1463040" y="973265"/>
                </a:lnTo>
                <a:lnTo>
                  <a:pt x="1645920" y="843226"/>
                </a:lnTo>
                <a:lnTo>
                  <a:pt x="1828800" y="713741"/>
                </a:lnTo>
                <a:lnTo>
                  <a:pt x="2011680" y="587719"/>
                </a:lnTo>
                <a:lnTo>
                  <a:pt x="2194560" y="467989"/>
                </a:lnTo>
                <a:lnTo>
                  <a:pt x="2377440" y="357240"/>
                </a:lnTo>
                <a:lnTo>
                  <a:pt x="2560320" y="257959"/>
                </a:lnTo>
                <a:lnTo>
                  <a:pt x="2743199" y="172376"/>
                </a:lnTo>
                <a:lnTo>
                  <a:pt x="2926080" y="102413"/>
                </a:lnTo>
                <a:lnTo>
                  <a:pt x="3108960" y="49642"/>
                </a:lnTo>
                <a:lnTo>
                  <a:pt x="3291840" y="15246"/>
                </a:lnTo>
                <a:lnTo>
                  <a:pt x="3474720" y="0"/>
                </a:lnTo>
                <a:lnTo>
                  <a:pt x="3657600" y="4244"/>
                </a:lnTo>
                <a:lnTo>
                  <a:pt x="3840480" y="27885"/>
                </a:lnTo>
                <a:lnTo>
                  <a:pt x="4023360" y="70390"/>
                </a:lnTo>
                <a:lnTo>
                  <a:pt x="4206240" y="130806"/>
                </a:lnTo>
                <a:lnTo>
                  <a:pt x="4389120" y="207775"/>
                </a:lnTo>
                <a:lnTo>
                  <a:pt x="4572000" y="299569"/>
                </a:lnTo>
                <a:lnTo>
                  <a:pt x="4754880" y="404127"/>
                </a:lnTo>
                <a:lnTo>
                  <a:pt x="4937760" y="519100"/>
                </a:lnTo>
                <a:lnTo>
                  <a:pt x="5120640" y="641906"/>
                </a:lnTo>
                <a:lnTo>
                  <a:pt x="5303520" y="769787"/>
                </a:lnTo>
                <a:lnTo>
                  <a:pt x="5486400" y="899872"/>
                </a:lnTo>
                <a:lnTo>
                  <a:pt x="5669280" y="1029239"/>
                </a:lnTo>
                <a:lnTo>
                  <a:pt x="5852160" y="1154983"/>
                </a:lnTo>
                <a:lnTo>
                  <a:pt x="6035040" y="1274279"/>
                </a:lnTo>
                <a:lnTo>
                  <a:pt x="6217920" y="1384449"/>
                </a:lnTo>
                <a:lnTo>
                  <a:pt x="6400800" y="1483019"/>
                </a:lnTo>
                <a:lnTo>
                  <a:pt x="6583680" y="1567774"/>
                </a:lnTo>
                <a:lnTo>
                  <a:pt x="6766560" y="1636811"/>
                </a:lnTo>
                <a:lnTo>
                  <a:pt x="6949440" y="1688580"/>
                </a:lnTo>
                <a:lnTo>
                  <a:pt x="7132320" y="1721919"/>
                </a:lnTo>
                <a:lnTo>
                  <a:pt x="7315200" y="1736078"/>
                </a:lnTo>
              </a:path>
            </a:pathLst>
          </a:custGeom>
          <a:noFill/>
          <a:ln w="9525">
            <a:solidFill>
              <a:srgbClr val="D986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4754880" y="1876210"/>
            <a:ext cx="7315200" cy="1734404"/>
          </a:xfrm>
          <a:custGeom>
            <a:avLst/>
            <a:gdLst/>
            <a:ahLst/>
            <a:cxnLst/>
            <a:rect l="l" t="t" r="r" b="b"/>
            <a:pathLst>
              <a:path w="7315200" h="1734404">
                <a:moveTo>
                  <a:pt x="0" y="1673958"/>
                </a:moveTo>
                <a:lnTo>
                  <a:pt x="182880" y="1616842"/>
                </a:lnTo>
                <a:lnTo>
                  <a:pt x="365760" y="1542886"/>
                </a:lnTo>
                <a:lnTo>
                  <a:pt x="548640" y="1453751"/>
                </a:lnTo>
                <a:lnTo>
                  <a:pt x="731520" y="1351438"/>
                </a:lnTo>
                <a:lnTo>
                  <a:pt x="914400" y="1238246"/>
                </a:lnTo>
                <a:lnTo>
                  <a:pt x="1097280" y="1116716"/>
                </a:lnTo>
                <a:lnTo>
                  <a:pt x="1280160" y="989578"/>
                </a:lnTo>
                <a:lnTo>
                  <a:pt x="1463040" y="859686"/>
                </a:lnTo>
                <a:lnTo>
                  <a:pt x="1645920" y="729959"/>
                </a:lnTo>
                <a:lnTo>
                  <a:pt x="1828800" y="603309"/>
                </a:lnTo>
                <a:lnTo>
                  <a:pt x="2011680" y="482581"/>
                </a:lnTo>
                <a:lnTo>
                  <a:pt x="2194560" y="370486"/>
                </a:lnTo>
                <a:lnTo>
                  <a:pt x="2377440" y="269541"/>
                </a:lnTo>
                <a:lnTo>
                  <a:pt x="2560320" y="182013"/>
                </a:lnTo>
                <a:lnTo>
                  <a:pt x="2743199" y="109869"/>
                </a:lnTo>
                <a:lnTo>
                  <a:pt x="2926080" y="54728"/>
                </a:lnTo>
                <a:lnTo>
                  <a:pt x="3108960" y="17829"/>
                </a:lnTo>
                <a:lnTo>
                  <a:pt x="3291840" y="0"/>
                </a:lnTo>
                <a:lnTo>
                  <a:pt x="3474720" y="1641"/>
                </a:lnTo>
                <a:lnTo>
                  <a:pt x="3657600" y="22717"/>
                </a:lnTo>
                <a:lnTo>
                  <a:pt x="3840480" y="62753"/>
                </a:lnTo>
                <a:lnTo>
                  <a:pt x="4023360" y="120850"/>
                </a:lnTo>
                <a:lnTo>
                  <a:pt x="4206240" y="195704"/>
                </a:lnTo>
                <a:lnTo>
                  <a:pt x="4389120" y="285634"/>
                </a:lnTo>
                <a:lnTo>
                  <a:pt x="4572000" y="388620"/>
                </a:lnTo>
                <a:lnTo>
                  <a:pt x="4754880" y="502349"/>
                </a:lnTo>
                <a:lnTo>
                  <a:pt x="4937760" y="624267"/>
                </a:lnTo>
                <a:lnTo>
                  <a:pt x="5120640" y="751636"/>
                </a:lnTo>
                <a:lnTo>
                  <a:pt x="5303520" y="881595"/>
                </a:lnTo>
                <a:lnTo>
                  <a:pt x="5486400" y="1011227"/>
                </a:lnTo>
                <a:lnTo>
                  <a:pt x="5669280" y="1137619"/>
                </a:lnTo>
                <a:lnTo>
                  <a:pt x="5852160" y="1257934"/>
                </a:lnTo>
                <a:lnTo>
                  <a:pt x="6035040" y="1369469"/>
                </a:lnTo>
                <a:lnTo>
                  <a:pt x="6217920" y="1469719"/>
                </a:lnTo>
                <a:lnTo>
                  <a:pt x="6400800" y="1556433"/>
                </a:lnTo>
                <a:lnTo>
                  <a:pt x="6583680" y="1627664"/>
                </a:lnTo>
                <a:lnTo>
                  <a:pt x="6766560" y="1681811"/>
                </a:lnTo>
                <a:lnTo>
                  <a:pt x="6949440" y="1717660"/>
                </a:lnTo>
                <a:lnTo>
                  <a:pt x="7132320" y="1734404"/>
                </a:lnTo>
                <a:lnTo>
                  <a:pt x="7315200" y="1731668"/>
                </a:lnTo>
              </a:path>
            </a:pathLst>
          </a:custGeom>
          <a:noFill/>
          <a:ln w="9525">
            <a:solidFill>
              <a:srgbClr val="E08A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61188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0" i="0">
                <a:solidFill>
                  <a:srgbClr val="B9B2F5"/>
                </a:solidFill>
                <a:latin typeface="Calibri"/>
              </a:rPr>
              <a:t>AI Engineering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06908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600" b="0" i="0">
                <a:solidFill>
                  <a:srgbClr val="FFFFFF"/>
                </a:solidFill>
                <a:latin typeface="Calibri"/>
              </a:rPr>
              <a:t>Introduction to LangGraph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983480"/>
            <a:ext cx="4206240" cy="45720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12064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0" i="0">
                <a:solidFill>
                  <a:srgbClr val="C9D4D4"/>
                </a:solidFill>
                <a:latin typeface="Calibri"/>
              </a:rPr>
              <a:t>Motivation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434317" cy="54864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A solitary language model is fairly limited…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8A8A8A"/>
                </a:solidFill>
                <a:latin typeface="Calibri"/>
              </a:rPr>
              <a:t>AI Engineering  ·  Introduction to LangGraph ·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8A8A8A"/>
                </a:solidFill>
                <a:latin typeface="Calibri"/>
              </a:rPr>
              <a:t>2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7432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1">
                <a:solidFill>
                  <a:srgbClr val="232B2B"/>
                </a:solidFill>
                <a:latin typeface="Calibri"/>
              </a:rPr>
              <a:t>Start</a:t>
            </a:r>
          </a:p>
        </p:txBody>
      </p:sp>
      <p:sp>
        <p:nvSpPr>
          <p:cNvPr id="8" name="Oval 7"/>
          <p:cNvSpPr/>
          <p:nvPr/>
        </p:nvSpPr>
        <p:spPr>
          <a:xfrm>
            <a:off x="5904280" y="2734056"/>
            <a:ext cx="384048" cy="384048"/>
          </a:xfrm>
          <a:prstGeom prst="ellipse">
            <a:avLst/>
          </a:prstGeom>
          <a:solidFill>
            <a:srgbClr val="ECECEC"/>
          </a:solidFill>
          <a:ln w="1905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99024" y="2420874"/>
            <a:ext cx="2194560" cy="2400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8A8A8A"/>
                </a:solidFill>
                <a:latin typeface="Consolas"/>
              </a:rPr>
              <a:t>LLM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27432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1">
                <a:solidFill>
                  <a:srgbClr val="232B2B"/>
                </a:solidFill>
                <a:latin typeface="Calibri"/>
              </a:rPr>
              <a:t>End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343400" y="2926080"/>
            <a:ext cx="1515160" cy="0"/>
          </a:xfrm>
          <a:prstGeom prst="line">
            <a:avLst/>
          </a:prstGeom>
          <a:ln w="19050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334048" y="2926080"/>
            <a:ext cx="1529792" cy="0"/>
          </a:xfrm>
          <a:prstGeom prst="line">
            <a:avLst/>
          </a:prstGeom>
          <a:ln w="19050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420624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0" i="0">
                <a:solidFill>
                  <a:srgbClr val="232B2B"/>
                </a:solidFill>
                <a:latin typeface="Calibri"/>
              </a:rPr>
              <a:t>… e.g., access to </a:t>
            </a:r>
            <a:r>
              <a:rPr sz="2600" b="0" i="0">
                <a:solidFill>
                  <a:srgbClr val="D64545"/>
                </a:solidFill>
                <a:latin typeface="Calibri"/>
              </a:rPr>
              <a:t>tools</a:t>
            </a:r>
            <a:r>
              <a:rPr sz="2600" b="0" i="0">
                <a:solidFill>
                  <a:srgbClr val="232B2B"/>
                </a:solidFill>
                <a:latin typeface="Calibri"/>
              </a:rPr>
              <a:t>, </a:t>
            </a:r>
            <a:r>
              <a:rPr sz="2600" b="0" i="0">
                <a:solidFill>
                  <a:srgbClr val="D64545"/>
                </a:solidFill>
                <a:latin typeface="Calibri"/>
              </a:rPr>
              <a:t>external context</a:t>
            </a:r>
            <a:r>
              <a:rPr sz="2600" b="0" i="0">
                <a:solidFill>
                  <a:srgbClr val="232B2B"/>
                </a:solidFill>
                <a:latin typeface="Calibri"/>
              </a:rPr>
              <a:t>, </a:t>
            </a:r>
            <a:r>
              <a:rPr sz="2600" b="0" i="0">
                <a:solidFill>
                  <a:srgbClr val="D64545"/>
                </a:solidFill>
                <a:latin typeface="Calibri"/>
              </a:rPr>
              <a:t>multi-step workflows</a:t>
            </a:r>
            <a:r>
              <a:rPr sz="2600" b="0" i="0">
                <a:solidFill>
                  <a:srgbClr val="232B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2151475" cy="54864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So, many LLM applications use a control flow…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8A8A8A"/>
                </a:solidFill>
                <a:latin typeface="Calibri"/>
              </a:rPr>
              <a:t>AI Engineering  ·  Introduction to LangGraph ·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8A8A8A"/>
                </a:solidFill>
                <a:latin typeface="Calibri"/>
              </a:rPr>
              <a:t>3 / 17</a:t>
            </a:r>
          </a:p>
        </p:txBody>
      </p:sp>
      <p:sp>
        <p:nvSpPr>
          <p:cNvPr id="7" name="Oval 6"/>
          <p:cNvSpPr/>
          <p:nvPr/>
        </p:nvSpPr>
        <p:spPr>
          <a:xfrm>
            <a:off x="4014215" y="2734056"/>
            <a:ext cx="384048" cy="384048"/>
          </a:xfrm>
          <a:prstGeom prst="ellipse">
            <a:avLst/>
          </a:prstGeom>
          <a:solidFill>
            <a:srgbClr val="ECECEC"/>
          </a:solidFill>
          <a:ln w="1905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59" y="2420874"/>
            <a:ext cx="2194560" cy="2400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8A8A8A"/>
                </a:solidFill>
                <a:latin typeface="Consolas"/>
              </a:rPr>
              <a:t>Step 1</a:t>
            </a:r>
          </a:p>
        </p:txBody>
      </p:sp>
      <p:sp>
        <p:nvSpPr>
          <p:cNvPr id="9" name="Oval 8"/>
          <p:cNvSpPr/>
          <p:nvPr/>
        </p:nvSpPr>
        <p:spPr>
          <a:xfrm>
            <a:off x="5294376" y="2734056"/>
            <a:ext cx="384048" cy="384048"/>
          </a:xfrm>
          <a:prstGeom prst="ellipse">
            <a:avLst/>
          </a:prstGeom>
          <a:solidFill>
            <a:srgbClr val="ECECEC"/>
          </a:solidFill>
          <a:ln w="1905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420874"/>
            <a:ext cx="2194560" cy="2400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8A8A8A"/>
                </a:solidFill>
                <a:latin typeface="Consolas"/>
              </a:rPr>
              <a:t>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72491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 i="0">
                <a:solidFill>
                  <a:srgbClr val="8A8A8A"/>
                </a:solidFill>
                <a:latin typeface="Calibri"/>
              </a:rPr>
              <a:t>…</a:t>
            </a:r>
          </a:p>
        </p:txBody>
      </p:sp>
      <p:sp>
        <p:nvSpPr>
          <p:cNvPr id="12" name="Oval 11"/>
          <p:cNvSpPr/>
          <p:nvPr/>
        </p:nvSpPr>
        <p:spPr>
          <a:xfrm>
            <a:off x="7763255" y="2734056"/>
            <a:ext cx="384048" cy="384048"/>
          </a:xfrm>
          <a:prstGeom prst="ellipse">
            <a:avLst/>
          </a:prstGeom>
          <a:solidFill>
            <a:srgbClr val="ECECEC"/>
          </a:solidFill>
          <a:ln w="1905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7999" y="2420874"/>
            <a:ext cx="2194560" cy="2400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8A8A8A"/>
                </a:solidFill>
                <a:latin typeface="Consolas"/>
              </a:rPr>
              <a:t>Step 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443983" y="2926080"/>
            <a:ext cx="804673" cy="0"/>
          </a:xfrm>
          <a:prstGeom prst="line">
            <a:avLst/>
          </a:prstGeom>
          <a:ln w="19050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724144" y="2926080"/>
            <a:ext cx="804672" cy="0"/>
          </a:xfrm>
          <a:prstGeom prst="line">
            <a:avLst/>
          </a:prstGeom>
          <a:ln w="19050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912864" y="2926080"/>
            <a:ext cx="804672" cy="0"/>
          </a:xfrm>
          <a:prstGeom prst="line">
            <a:avLst/>
          </a:prstGeom>
          <a:ln w="19050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286000" y="27432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1">
                <a:solidFill>
                  <a:srgbClr val="232B2B"/>
                </a:solidFill>
                <a:latin typeface="Calibri"/>
              </a:rPr>
              <a:t>Start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154680" y="2926080"/>
            <a:ext cx="813816" cy="0"/>
          </a:xfrm>
          <a:prstGeom prst="line">
            <a:avLst/>
          </a:prstGeom>
          <a:ln w="19050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778240" y="27432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1">
                <a:solidFill>
                  <a:srgbClr val="232B2B"/>
                </a:solidFill>
                <a:latin typeface="Calibri"/>
              </a:rPr>
              <a:t>End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193023" y="2926080"/>
            <a:ext cx="813817" cy="0"/>
          </a:xfrm>
          <a:prstGeom prst="line">
            <a:avLst/>
          </a:prstGeom>
          <a:ln w="19050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1520" y="420624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0" i="0">
                <a:solidFill>
                  <a:srgbClr val="232B2B"/>
                </a:solidFill>
                <a:latin typeface="Calibri"/>
              </a:rPr>
              <a:t>… with steps pre / post-LLM call (tool calls, retrieval, etc).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80644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8A8A8A"/>
                </a:solidFill>
                <a:latin typeface="Calibri"/>
              </a:rPr>
              <a:t>Reference:  </a:t>
            </a:r>
            <a:r>
              <a:rPr sz="1300" b="0" i="0">
                <a:solidFill>
                  <a:srgbClr val="3B7DD8"/>
                </a:solidFill>
                <a:latin typeface="Calibri"/>
                <a:hlinkClick r:id="rId2"/>
              </a:rPr>
              <a:t>Control flow</a:t>
            </a:r>
            <a:r>
              <a:rPr sz="1300" b="0" i="0">
                <a:solidFill>
                  <a:srgbClr val="232B2B"/>
                </a:solidFill>
                <a:latin typeface="Calibri"/>
              </a:rPr>
              <a:t>     </a:t>
            </a:r>
            <a:r>
              <a:rPr sz="1300" b="0" i="0">
                <a:solidFill>
                  <a:srgbClr val="3B7DD8"/>
                </a:solidFill>
                <a:latin typeface="Calibri"/>
                <a:hlinkClick r:id="rId3"/>
              </a:rPr>
              <a:t>RAG from scratch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2868634" cy="54864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This control flow forms a “chain”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8A8A8A"/>
                </a:solidFill>
                <a:latin typeface="Calibri"/>
              </a:rPr>
              <a:t>AI Engineering  ·  Introduction to LangGraph ·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8A8A8A"/>
                </a:solidFill>
                <a:latin typeface="Calibri"/>
              </a:rPr>
              <a:t>4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03320" y="2240280"/>
            <a:ext cx="4754880" cy="1371600"/>
          </a:xfrm>
          <a:prstGeom prst="roundRect">
            <a:avLst>
              <a:gd name="adj" fmla="val 14000"/>
            </a:avLst>
          </a:prstGeom>
          <a:noFill/>
          <a:ln w="22225">
            <a:solidFill>
              <a:srgbClr val="23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66360" y="3675887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1">
                <a:solidFill>
                  <a:srgbClr val="232B2B"/>
                </a:solidFill>
                <a:latin typeface="Calibri"/>
              </a:rPr>
              <a:t>Chain</a:t>
            </a:r>
          </a:p>
        </p:txBody>
      </p:sp>
      <p:sp>
        <p:nvSpPr>
          <p:cNvPr id="9" name="Oval 8"/>
          <p:cNvSpPr/>
          <p:nvPr/>
        </p:nvSpPr>
        <p:spPr>
          <a:xfrm>
            <a:off x="4014215" y="2825496"/>
            <a:ext cx="384048" cy="384048"/>
          </a:xfrm>
          <a:prstGeom prst="ellipse">
            <a:avLst/>
          </a:prstGeom>
          <a:solidFill>
            <a:srgbClr val="ECECEC"/>
          </a:solidFill>
          <a:ln w="1905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59" y="2512313"/>
            <a:ext cx="2194560" cy="2400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8A8A8A"/>
                </a:solidFill>
                <a:latin typeface="Consolas"/>
              </a:rPr>
              <a:t>Step 1</a:t>
            </a:r>
          </a:p>
        </p:txBody>
      </p:sp>
      <p:sp>
        <p:nvSpPr>
          <p:cNvPr id="11" name="Oval 10"/>
          <p:cNvSpPr/>
          <p:nvPr/>
        </p:nvSpPr>
        <p:spPr>
          <a:xfrm>
            <a:off x="5294376" y="2825496"/>
            <a:ext cx="384048" cy="384048"/>
          </a:xfrm>
          <a:prstGeom prst="ellipse">
            <a:avLst/>
          </a:prstGeom>
          <a:solidFill>
            <a:srgbClr val="ECECEC"/>
          </a:solidFill>
          <a:ln w="1905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512313"/>
            <a:ext cx="2194560" cy="2400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8A8A8A"/>
                </a:solidFill>
                <a:latin typeface="Consolas"/>
              </a:rPr>
              <a:t>LLM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816351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 i="0">
                <a:solidFill>
                  <a:srgbClr val="8A8A8A"/>
                </a:solidFill>
                <a:latin typeface="Calibri"/>
              </a:rPr>
              <a:t>…</a:t>
            </a:r>
          </a:p>
        </p:txBody>
      </p:sp>
      <p:sp>
        <p:nvSpPr>
          <p:cNvPr id="14" name="Oval 13"/>
          <p:cNvSpPr/>
          <p:nvPr/>
        </p:nvSpPr>
        <p:spPr>
          <a:xfrm>
            <a:off x="7763255" y="2825496"/>
            <a:ext cx="384048" cy="384048"/>
          </a:xfrm>
          <a:prstGeom prst="ellipse">
            <a:avLst/>
          </a:prstGeom>
          <a:solidFill>
            <a:srgbClr val="ECECEC"/>
          </a:solidFill>
          <a:ln w="1905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7999" y="2512313"/>
            <a:ext cx="2194560" cy="2400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8A8A8A"/>
                </a:solidFill>
                <a:latin typeface="Consolas"/>
              </a:rPr>
              <a:t>Step 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443983" y="3017520"/>
            <a:ext cx="804673" cy="0"/>
          </a:xfrm>
          <a:prstGeom prst="line">
            <a:avLst/>
          </a:prstGeom>
          <a:ln w="19050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24144" y="3017520"/>
            <a:ext cx="804672" cy="0"/>
          </a:xfrm>
          <a:prstGeom prst="line">
            <a:avLst/>
          </a:prstGeom>
          <a:ln w="19050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912864" y="3017520"/>
            <a:ext cx="804672" cy="0"/>
          </a:xfrm>
          <a:prstGeom prst="line">
            <a:avLst/>
          </a:prstGeom>
          <a:ln w="19050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194560" y="2834639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1">
                <a:solidFill>
                  <a:srgbClr val="232B2B"/>
                </a:solidFill>
                <a:latin typeface="Calibri"/>
              </a:rPr>
              <a:t>Start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63240" y="3017520"/>
            <a:ext cx="905256" cy="0"/>
          </a:xfrm>
          <a:prstGeom prst="line">
            <a:avLst/>
          </a:prstGeom>
          <a:ln w="19050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869680" y="2834639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1">
                <a:solidFill>
                  <a:srgbClr val="232B2B"/>
                </a:solidFill>
                <a:latin typeface="Calibri"/>
              </a:rPr>
              <a:t>End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193023" y="3017520"/>
            <a:ext cx="905257" cy="0"/>
          </a:xfrm>
          <a:prstGeom prst="line">
            <a:avLst/>
          </a:prstGeom>
          <a:ln w="19050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57200" y="580644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8A8A8A"/>
                </a:solidFill>
                <a:latin typeface="Calibri"/>
              </a:rPr>
              <a:t>Reference:  </a:t>
            </a:r>
            <a:r>
              <a:rPr sz="1300" b="0" i="0">
                <a:solidFill>
                  <a:srgbClr val="3B7DD8"/>
                </a:solidFill>
                <a:latin typeface="Calibri"/>
                <a:hlinkClick r:id="rId2"/>
              </a:rPr>
              <a:t>Control flow</a:t>
            </a:r>
            <a:r>
              <a:rPr sz="1300" b="0" i="0">
                <a:solidFill>
                  <a:srgbClr val="232B2B"/>
                </a:solidFill>
                <a:latin typeface="Calibri"/>
              </a:rPr>
              <a:t>     </a:t>
            </a:r>
            <a:r>
              <a:rPr sz="1300" b="0" i="0">
                <a:solidFill>
                  <a:srgbClr val="3B7DD8"/>
                </a:solidFill>
                <a:latin typeface="Calibri"/>
                <a:hlinkClick r:id="rId3"/>
              </a:rPr>
              <a:t>What is an agent?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3585792" cy="54864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Chains are reliable! Same control flow every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8A8A8A"/>
                </a:solidFill>
                <a:latin typeface="Calibri"/>
              </a:rPr>
              <a:t>AI Engineering  ·  Introduction to LangGraph ·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8A8A8A"/>
                </a:solidFill>
                <a:latin typeface="Calibri"/>
              </a:rPr>
              <a:t>5 / 17</a:t>
            </a:r>
          </a:p>
        </p:txBody>
      </p:sp>
      <p:sp>
        <p:nvSpPr>
          <p:cNvPr id="7" name="Oval 6"/>
          <p:cNvSpPr/>
          <p:nvPr/>
        </p:nvSpPr>
        <p:spPr>
          <a:xfrm>
            <a:off x="4562856" y="1865376"/>
            <a:ext cx="384048" cy="384048"/>
          </a:xfrm>
          <a:prstGeom prst="ellipse">
            <a:avLst/>
          </a:prstGeom>
          <a:solidFill>
            <a:srgbClr val="ECECEC"/>
          </a:solidFill>
          <a:ln w="1905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552194"/>
            <a:ext cx="2194560" cy="2400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8A8A8A"/>
                </a:solidFill>
                <a:latin typeface="Consolas"/>
              </a:rPr>
              <a:t>Step 1</a:t>
            </a:r>
          </a:p>
        </p:txBody>
      </p:sp>
      <p:sp>
        <p:nvSpPr>
          <p:cNvPr id="9" name="Oval 8"/>
          <p:cNvSpPr/>
          <p:nvPr/>
        </p:nvSpPr>
        <p:spPr>
          <a:xfrm>
            <a:off x="5843016" y="1865376"/>
            <a:ext cx="384048" cy="384048"/>
          </a:xfrm>
          <a:prstGeom prst="ellipse">
            <a:avLst/>
          </a:prstGeom>
          <a:solidFill>
            <a:srgbClr val="ECECEC"/>
          </a:solidFill>
          <a:ln w="1905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59" y="1552194"/>
            <a:ext cx="2194560" cy="2400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8A8A8A"/>
                </a:solidFill>
                <a:latin typeface="Consolas"/>
              </a:rPr>
              <a:t>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856231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 i="0">
                <a:solidFill>
                  <a:srgbClr val="8A8A8A"/>
                </a:solidFill>
                <a:latin typeface="Calibri"/>
              </a:rPr>
              <a:t>…</a:t>
            </a:r>
          </a:p>
        </p:txBody>
      </p:sp>
      <p:sp>
        <p:nvSpPr>
          <p:cNvPr id="12" name="Oval 11"/>
          <p:cNvSpPr/>
          <p:nvPr/>
        </p:nvSpPr>
        <p:spPr>
          <a:xfrm>
            <a:off x="8220455" y="1865376"/>
            <a:ext cx="384048" cy="384048"/>
          </a:xfrm>
          <a:prstGeom prst="ellipse">
            <a:avLst/>
          </a:prstGeom>
          <a:solidFill>
            <a:srgbClr val="ECECEC"/>
          </a:solidFill>
          <a:ln w="1905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199" y="1552194"/>
            <a:ext cx="2194560" cy="2400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8A8A8A"/>
                </a:solidFill>
                <a:latin typeface="Consolas"/>
              </a:rPr>
              <a:t>Step 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992624" y="2057400"/>
            <a:ext cx="804672" cy="0"/>
          </a:xfrm>
          <a:prstGeom prst="line">
            <a:avLst/>
          </a:prstGeom>
          <a:ln w="19050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272783" y="2057400"/>
            <a:ext cx="758953" cy="0"/>
          </a:xfrm>
          <a:prstGeom prst="line">
            <a:avLst/>
          </a:prstGeom>
          <a:ln w="19050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15784" y="2057400"/>
            <a:ext cx="758952" cy="0"/>
          </a:xfrm>
          <a:prstGeom prst="line">
            <a:avLst/>
          </a:prstGeom>
          <a:ln w="19050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562856" y="2916936"/>
            <a:ext cx="384048" cy="384048"/>
          </a:xfrm>
          <a:prstGeom prst="ellipse">
            <a:avLst/>
          </a:prstGeom>
          <a:solidFill>
            <a:srgbClr val="ECECEC"/>
          </a:solidFill>
          <a:ln w="1905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2603753"/>
            <a:ext cx="2194560" cy="2400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8A8A8A"/>
                </a:solidFill>
                <a:latin typeface="Consolas"/>
              </a:rPr>
              <a:t>Step 1</a:t>
            </a:r>
          </a:p>
        </p:txBody>
      </p:sp>
      <p:sp>
        <p:nvSpPr>
          <p:cNvPr id="19" name="Oval 18"/>
          <p:cNvSpPr/>
          <p:nvPr/>
        </p:nvSpPr>
        <p:spPr>
          <a:xfrm>
            <a:off x="5843016" y="2916936"/>
            <a:ext cx="384048" cy="384048"/>
          </a:xfrm>
          <a:prstGeom prst="ellipse">
            <a:avLst/>
          </a:prstGeom>
          <a:solidFill>
            <a:srgbClr val="ECECEC"/>
          </a:solidFill>
          <a:ln w="1905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59" y="2603753"/>
            <a:ext cx="2194560" cy="2400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8A8A8A"/>
                </a:solidFill>
                <a:latin typeface="Consolas"/>
              </a:rPr>
              <a:t>LLM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907791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 i="0">
                <a:solidFill>
                  <a:srgbClr val="8A8A8A"/>
                </a:solidFill>
                <a:latin typeface="Calibri"/>
              </a:rPr>
              <a:t>…</a:t>
            </a:r>
          </a:p>
        </p:txBody>
      </p:sp>
      <p:sp>
        <p:nvSpPr>
          <p:cNvPr id="22" name="Oval 21"/>
          <p:cNvSpPr/>
          <p:nvPr/>
        </p:nvSpPr>
        <p:spPr>
          <a:xfrm>
            <a:off x="8220455" y="2916936"/>
            <a:ext cx="384048" cy="384048"/>
          </a:xfrm>
          <a:prstGeom prst="ellipse">
            <a:avLst/>
          </a:prstGeom>
          <a:solidFill>
            <a:srgbClr val="ECECEC"/>
          </a:solidFill>
          <a:ln w="1905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199" y="2603753"/>
            <a:ext cx="2194560" cy="2400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8A8A8A"/>
                </a:solidFill>
                <a:latin typeface="Consolas"/>
              </a:rPr>
              <a:t>Step 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992624" y="3108960"/>
            <a:ext cx="804672" cy="0"/>
          </a:xfrm>
          <a:prstGeom prst="line">
            <a:avLst/>
          </a:prstGeom>
          <a:ln w="19050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272783" y="3108960"/>
            <a:ext cx="758953" cy="0"/>
          </a:xfrm>
          <a:prstGeom prst="line">
            <a:avLst/>
          </a:prstGeom>
          <a:ln w="19050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415784" y="3108960"/>
            <a:ext cx="758952" cy="0"/>
          </a:xfrm>
          <a:prstGeom prst="line">
            <a:avLst/>
          </a:prstGeom>
          <a:ln w="19050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4562856" y="3968496"/>
            <a:ext cx="384048" cy="384048"/>
          </a:xfrm>
          <a:prstGeom prst="ellipse">
            <a:avLst/>
          </a:prstGeom>
          <a:solidFill>
            <a:srgbClr val="ECECEC"/>
          </a:solidFill>
          <a:ln w="1905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0" y="3655313"/>
            <a:ext cx="2194560" cy="2400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8A8A8A"/>
                </a:solidFill>
                <a:latin typeface="Consolas"/>
              </a:rPr>
              <a:t>Step 1</a:t>
            </a:r>
          </a:p>
        </p:txBody>
      </p:sp>
      <p:sp>
        <p:nvSpPr>
          <p:cNvPr id="29" name="Oval 28"/>
          <p:cNvSpPr/>
          <p:nvPr/>
        </p:nvSpPr>
        <p:spPr>
          <a:xfrm>
            <a:off x="5843016" y="3968496"/>
            <a:ext cx="384048" cy="384048"/>
          </a:xfrm>
          <a:prstGeom prst="ellipse">
            <a:avLst/>
          </a:prstGeom>
          <a:solidFill>
            <a:srgbClr val="ECECEC"/>
          </a:solidFill>
          <a:ln w="1905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37759" y="3655313"/>
            <a:ext cx="2194560" cy="2400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8A8A8A"/>
                </a:solidFill>
                <a:latin typeface="Consolas"/>
              </a:rPr>
              <a:t>LLM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95935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 i="0">
                <a:solidFill>
                  <a:srgbClr val="8A8A8A"/>
                </a:solidFill>
                <a:latin typeface="Calibri"/>
              </a:rPr>
              <a:t>…</a:t>
            </a:r>
          </a:p>
        </p:txBody>
      </p:sp>
      <p:sp>
        <p:nvSpPr>
          <p:cNvPr id="32" name="Oval 31"/>
          <p:cNvSpPr/>
          <p:nvPr/>
        </p:nvSpPr>
        <p:spPr>
          <a:xfrm>
            <a:off x="8220455" y="3968496"/>
            <a:ext cx="384048" cy="384048"/>
          </a:xfrm>
          <a:prstGeom prst="ellipse">
            <a:avLst/>
          </a:prstGeom>
          <a:solidFill>
            <a:srgbClr val="ECECEC"/>
          </a:solidFill>
          <a:ln w="1905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199" y="3655313"/>
            <a:ext cx="2194560" cy="2400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8A8A8A"/>
                </a:solidFill>
                <a:latin typeface="Consolas"/>
              </a:rPr>
              <a:t>Step 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992624" y="4160520"/>
            <a:ext cx="804672" cy="0"/>
          </a:xfrm>
          <a:prstGeom prst="line">
            <a:avLst/>
          </a:prstGeom>
          <a:ln w="19050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272783" y="4160520"/>
            <a:ext cx="758953" cy="0"/>
          </a:xfrm>
          <a:prstGeom prst="line">
            <a:avLst/>
          </a:prstGeom>
          <a:ln w="19050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415784" y="4160520"/>
            <a:ext cx="758952" cy="0"/>
          </a:xfrm>
          <a:prstGeom prst="line">
            <a:avLst/>
          </a:prstGeom>
          <a:ln w="19050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840480" y="1600200"/>
            <a:ext cx="0" cy="3611880"/>
          </a:xfrm>
          <a:prstGeom prst="line">
            <a:avLst/>
          </a:prstGeom>
          <a:ln w="19050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 rot="16200000">
            <a:off x="2560320" y="32735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232B2B"/>
                </a:solidFill>
                <a:latin typeface="Consolas"/>
              </a:rPr>
              <a:t>Invocations</a:t>
            </a:r>
          </a:p>
        </p:txBody>
      </p:sp>
      <p:sp>
        <p:nvSpPr>
          <p:cNvPr id="39" name="Oval 38"/>
          <p:cNvSpPr/>
          <p:nvPr/>
        </p:nvSpPr>
        <p:spPr>
          <a:xfrm>
            <a:off x="6007607" y="4590288"/>
            <a:ext cx="54864" cy="54864"/>
          </a:xfrm>
          <a:prstGeom prst="ellipse">
            <a:avLst/>
          </a:prstGeom>
          <a:solidFill>
            <a:srgbClr val="8A8A8A"/>
          </a:solidFill>
          <a:ln w="635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007607" y="4727448"/>
            <a:ext cx="54864" cy="54864"/>
          </a:xfrm>
          <a:prstGeom prst="ellipse">
            <a:avLst/>
          </a:prstGeom>
          <a:solidFill>
            <a:srgbClr val="8A8A8A"/>
          </a:solidFill>
          <a:ln w="635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007607" y="4864607"/>
            <a:ext cx="54864" cy="54864"/>
          </a:xfrm>
          <a:prstGeom prst="ellipse">
            <a:avLst/>
          </a:prstGeom>
          <a:solidFill>
            <a:srgbClr val="8A8A8A"/>
          </a:solidFill>
          <a:ln w="635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580644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8A8A8A"/>
                </a:solidFill>
                <a:latin typeface="Calibri"/>
              </a:rPr>
              <a:t>Reference:  </a:t>
            </a:r>
            <a:r>
              <a:rPr sz="1300" b="0" i="0">
                <a:solidFill>
                  <a:srgbClr val="3B7DD8"/>
                </a:solidFill>
                <a:latin typeface="Calibri"/>
                <a:hlinkClick r:id="rId2"/>
              </a:rPr>
              <a:t>What is an agent?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4302951" cy="54864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But, we want LLM systems that can pick their own control flow!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8A8A8A"/>
                </a:solidFill>
                <a:latin typeface="Calibri"/>
              </a:rPr>
              <a:t>AI Engineering  ·  Introduction to LangGraph ·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8A8A8A"/>
                </a:solidFill>
                <a:latin typeface="Calibri"/>
              </a:rPr>
              <a:t>6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1984" y="2514600"/>
            <a:ext cx="548640" cy="548640"/>
          </a:xfrm>
          <a:prstGeom prst="roundRect">
            <a:avLst>
              <a:gd name="adj" fmla="val 14000"/>
            </a:avLst>
          </a:prstGeom>
          <a:noFill/>
          <a:ln w="19050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21984" y="25146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 i="0">
                <a:solidFill>
                  <a:srgbClr val="232B2B"/>
                </a:solidFill>
                <a:latin typeface="Calibri"/>
              </a:rPr>
              <a:t>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93384" y="1143000"/>
            <a:ext cx="1005840" cy="1097280"/>
          </a:xfrm>
          <a:prstGeom prst="roundRect">
            <a:avLst>
              <a:gd name="adj" fmla="val 14000"/>
            </a:avLst>
          </a:prstGeom>
          <a:noFill/>
          <a:ln w="1587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3384" y="1143000"/>
            <a:ext cx="10058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8A8A8A"/>
                </a:solidFill>
                <a:latin typeface="Consolas"/>
              </a:rPr>
              <a:t>Step N</a:t>
            </a:r>
          </a:p>
          <a:p>
            <a:pPr algn="ctr"/>
            <a:r>
              <a:rPr sz="1100" b="0" i="0">
                <a:solidFill>
                  <a:srgbClr val="8A8A8A"/>
                </a:solidFill>
                <a:latin typeface="Consolas"/>
              </a:rPr>
              <a:t>…</a:t>
            </a:r>
          </a:p>
          <a:p>
            <a:pPr algn="ctr"/>
            <a:r>
              <a:rPr sz="1100" b="0" i="0">
                <a:solidFill>
                  <a:srgbClr val="8A8A8A"/>
                </a:solidFill>
                <a:latin typeface="Consolas"/>
              </a:rPr>
              <a:t>Step 2</a:t>
            </a:r>
          </a:p>
          <a:p>
            <a:pPr algn="ctr"/>
            <a:r>
              <a:rPr sz="1100" b="0" i="0">
                <a:solidFill>
                  <a:srgbClr val="8A8A8A"/>
                </a:solidFill>
                <a:latin typeface="Consolas"/>
              </a:rPr>
              <a:t>Step 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96304" y="2240280"/>
            <a:ext cx="0" cy="274320"/>
          </a:xfrm>
          <a:prstGeom prst="line">
            <a:avLst/>
          </a:prstGeom>
          <a:ln w="15875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977640" y="2606039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1">
                <a:solidFill>
                  <a:srgbClr val="232B2B"/>
                </a:solidFill>
                <a:latin typeface="Calibri"/>
              </a:rPr>
              <a:t>Start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46320" y="2788920"/>
            <a:ext cx="929944" cy="0"/>
          </a:xfrm>
          <a:prstGeom prst="line">
            <a:avLst/>
          </a:prstGeom>
          <a:ln w="19050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132320" y="2606039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1">
                <a:solidFill>
                  <a:srgbClr val="232B2B"/>
                </a:solidFill>
                <a:latin typeface="Calibri"/>
              </a:rPr>
              <a:t>End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16344" y="2788920"/>
            <a:ext cx="944576" cy="0"/>
          </a:xfrm>
          <a:prstGeom prst="line">
            <a:avLst/>
          </a:prstGeom>
          <a:ln w="19050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Freeform 15"/>
          <p:cNvSpPr/>
          <p:nvPr/>
        </p:nvSpPr>
        <p:spPr>
          <a:xfrm>
            <a:off x="5943352" y="3090671"/>
            <a:ext cx="305904" cy="377190"/>
          </a:xfrm>
          <a:custGeom>
            <a:avLst/>
            <a:gdLst/>
            <a:ahLst/>
            <a:cxnLst/>
            <a:rect l="l" t="t" r="r" b="b"/>
            <a:pathLst>
              <a:path w="305904" h="377190">
                <a:moveTo>
                  <a:pt x="280968" y="0"/>
                </a:moveTo>
                <a:lnTo>
                  <a:pt x="299156" y="79164"/>
                </a:lnTo>
                <a:lnTo>
                  <a:pt x="305904" y="149014"/>
                </a:lnTo>
                <a:lnTo>
                  <a:pt x="302643" y="209551"/>
                </a:lnTo>
                <a:lnTo>
                  <a:pt x="290802" y="260774"/>
                </a:lnTo>
                <a:lnTo>
                  <a:pt x="271812" y="302684"/>
                </a:lnTo>
                <a:lnTo>
                  <a:pt x="247102" y="335281"/>
                </a:lnTo>
                <a:lnTo>
                  <a:pt x="218102" y="358564"/>
                </a:lnTo>
                <a:lnTo>
                  <a:pt x="186242" y="372534"/>
                </a:lnTo>
                <a:lnTo>
                  <a:pt x="152952" y="377190"/>
                </a:lnTo>
                <a:lnTo>
                  <a:pt x="119663" y="372534"/>
                </a:lnTo>
                <a:lnTo>
                  <a:pt x="87803" y="358564"/>
                </a:lnTo>
                <a:lnTo>
                  <a:pt x="58803" y="335280"/>
                </a:lnTo>
                <a:lnTo>
                  <a:pt x="34093" y="302684"/>
                </a:lnTo>
                <a:lnTo>
                  <a:pt x="15102" y="260774"/>
                </a:lnTo>
                <a:lnTo>
                  <a:pt x="3262" y="209551"/>
                </a:lnTo>
                <a:lnTo>
                  <a:pt x="0" y="149014"/>
                </a:lnTo>
                <a:lnTo>
                  <a:pt x="6749" y="79164"/>
                </a:lnTo>
                <a:lnTo>
                  <a:pt x="24936" y="0"/>
                </a:lnTo>
              </a:path>
            </a:pathLst>
          </a:custGeom>
          <a:noFill/>
          <a:ln w="19050">
            <a:solidFill>
              <a:srgbClr val="232B2B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00600" y="4069079"/>
            <a:ext cx="274320" cy="274320"/>
          </a:xfrm>
          <a:prstGeom prst="ellipse">
            <a:avLst/>
          </a:prstGeom>
          <a:solidFill>
            <a:srgbClr val="ECECEC"/>
          </a:solidFill>
          <a:ln w="1905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0" y="3843908"/>
            <a:ext cx="2194560" cy="1885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8A8A8A"/>
                </a:solidFill>
                <a:latin typeface="Consolas"/>
              </a:rPr>
              <a:t>Step 1</a:t>
            </a:r>
          </a:p>
        </p:txBody>
      </p:sp>
      <p:sp>
        <p:nvSpPr>
          <p:cNvPr id="19" name="Oval 18"/>
          <p:cNvSpPr/>
          <p:nvPr/>
        </p:nvSpPr>
        <p:spPr>
          <a:xfrm>
            <a:off x="6035040" y="4069079"/>
            <a:ext cx="274320" cy="274320"/>
          </a:xfrm>
          <a:prstGeom prst="ellipse">
            <a:avLst/>
          </a:prstGeom>
          <a:solidFill>
            <a:srgbClr val="ECECEC"/>
          </a:solidFill>
          <a:ln w="1905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74920" y="3843908"/>
            <a:ext cx="2194560" cy="1885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8A8A8A"/>
                </a:solidFill>
                <a:latin typeface="Consolas"/>
              </a:rPr>
              <a:t>Step 2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120640" y="4206240"/>
            <a:ext cx="868680" cy="0"/>
          </a:xfrm>
          <a:prstGeom prst="line">
            <a:avLst/>
          </a:prstGeom>
          <a:ln w="15875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800600" y="4800600"/>
            <a:ext cx="274320" cy="274320"/>
          </a:xfrm>
          <a:prstGeom prst="ellipse">
            <a:avLst/>
          </a:prstGeom>
          <a:solidFill>
            <a:srgbClr val="ECECEC"/>
          </a:solidFill>
          <a:ln w="1905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0" y="4575429"/>
            <a:ext cx="2194560" cy="1885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8A8A8A"/>
                </a:solidFill>
                <a:latin typeface="Consolas"/>
              </a:rPr>
              <a:t>Step 2</a:t>
            </a:r>
          </a:p>
        </p:txBody>
      </p:sp>
      <p:sp>
        <p:nvSpPr>
          <p:cNvPr id="24" name="Oval 23"/>
          <p:cNvSpPr/>
          <p:nvPr/>
        </p:nvSpPr>
        <p:spPr>
          <a:xfrm>
            <a:off x="6035040" y="4800600"/>
            <a:ext cx="274320" cy="274320"/>
          </a:xfrm>
          <a:prstGeom prst="ellipse">
            <a:avLst/>
          </a:prstGeom>
          <a:solidFill>
            <a:srgbClr val="ECECEC"/>
          </a:solidFill>
          <a:ln w="1905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74920" y="4575429"/>
            <a:ext cx="2194560" cy="1885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8A8A8A"/>
                </a:solidFill>
                <a:latin typeface="Consolas"/>
              </a:rPr>
              <a:t>Step 1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120640" y="4937760"/>
            <a:ext cx="868680" cy="0"/>
          </a:xfrm>
          <a:prstGeom prst="line">
            <a:avLst/>
          </a:prstGeom>
          <a:ln w="15875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7269480" y="4800600"/>
            <a:ext cx="274320" cy="274320"/>
          </a:xfrm>
          <a:prstGeom prst="ellipse">
            <a:avLst/>
          </a:prstGeom>
          <a:solidFill>
            <a:srgbClr val="ECECEC"/>
          </a:solidFill>
          <a:ln w="1905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4575429"/>
            <a:ext cx="2194560" cy="1885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8A8A8A"/>
                </a:solidFill>
                <a:latin typeface="Consolas"/>
              </a:rPr>
              <a:t>Step 1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355080" y="4937760"/>
            <a:ext cx="868680" cy="0"/>
          </a:xfrm>
          <a:prstGeom prst="line">
            <a:avLst/>
          </a:prstGeom>
          <a:ln w="15875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800600" y="5532120"/>
            <a:ext cx="274320" cy="274320"/>
          </a:xfrm>
          <a:prstGeom prst="ellipse">
            <a:avLst/>
          </a:prstGeom>
          <a:solidFill>
            <a:srgbClr val="ECECEC"/>
          </a:solidFill>
          <a:ln w="1905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0" y="5306949"/>
            <a:ext cx="2194560" cy="1885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8A8A8A"/>
                </a:solidFill>
                <a:latin typeface="Consolas"/>
              </a:rPr>
              <a:t>Step 1</a:t>
            </a:r>
          </a:p>
        </p:txBody>
      </p:sp>
      <p:sp>
        <p:nvSpPr>
          <p:cNvPr id="32" name="Oval 31"/>
          <p:cNvSpPr/>
          <p:nvPr/>
        </p:nvSpPr>
        <p:spPr>
          <a:xfrm>
            <a:off x="6035040" y="5532120"/>
            <a:ext cx="274320" cy="274320"/>
          </a:xfrm>
          <a:prstGeom prst="ellipse">
            <a:avLst/>
          </a:prstGeom>
          <a:solidFill>
            <a:srgbClr val="ECECEC"/>
          </a:solidFill>
          <a:ln w="1905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74920" y="5306949"/>
            <a:ext cx="2194560" cy="1885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8A8A8A"/>
                </a:solidFill>
                <a:latin typeface="Consolas"/>
              </a:rPr>
              <a:t>Step 1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120640" y="5669280"/>
            <a:ext cx="868680" cy="0"/>
          </a:xfrm>
          <a:prstGeom prst="line">
            <a:avLst/>
          </a:prstGeom>
          <a:ln w="15875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7269480" y="5532120"/>
            <a:ext cx="274320" cy="274320"/>
          </a:xfrm>
          <a:prstGeom prst="ellipse">
            <a:avLst/>
          </a:prstGeom>
          <a:solidFill>
            <a:srgbClr val="ECECEC"/>
          </a:solidFill>
          <a:ln w="1905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5306949"/>
            <a:ext cx="2194560" cy="1885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8A8A8A"/>
                </a:solidFill>
                <a:latin typeface="Consolas"/>
              </a:rPr>
              <a:t>Step 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355080" y="5669280"/>
            <a:ext cx="868680" cy="0"/>
          </a:xfrm>
          <a:prstGeom prst="line">
            <a:avLst/>
          </a:prstGeom>
          <a:ln w="15875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297680" y="3886200"/>
            <a:ext cx="0" cy="2057400"/>
          </a:xfrm>
          <a:prstGeom prst="line">
            <a:avLst/>
          </a:prstGeom>
          <a:ln w="15875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 rot="16200000">
            <a:off x="3017520" y="477316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232B2B"/>
                </a:solidFill>
                <a:latin typeface="Consolas"/>
              </a:rPr>
              <a:t>Invocations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5020109" cy="54864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Agent ≈ control flow defined by an 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8A8A8A"/>
                </a:solidFill>
                <a:latin typeface="Calibri"/>
              </a:rPr>
              <a:t>AI Engineering  ·  Introduction to LangGraph ·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8A8A8A"/>
                </a:solidFill>
                <a:latin typeface="Calibri"/>
              </a:rPr>
              <a:t>7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3200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1">
                <a:solidFill>
                  <a:srgbClr val="232B2B"/>
                </a:solidFill>
                <a:latin typeface="Calibri"/>
              </a:rPr>
              <a:t>Start</a:t>
            </a:r>
          </a:p>
        </p:txBody>
      </p:sp>
      <p:sp>
        <p:nvSpPr>
          <p:cNvPr id="8" name="Oval 7"/>
          <p:cNvSpPr/>
          <p:nvPr/>
        </p:nvSpPr>
        <p:spPr>
          <a:xfrm>
            <a:off x="4379976" y="3191256"/>
            <a:ext cx="384048" cy="384048"/>
          </a:xfrm>
          <a:prstGeom prst="ellipse">
            <a:avLst/>
          </a:prstGeom>
          <a:solidFill>
            <a:srgbClr val="ECECEC"/>
          </a:solidFill>
          <a:ln w="1905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2878074"/>
            <a:ext cx="2194560" cy="2400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8A8A8A"/>
                </a:solidFill>
                <a:latin typeface="Consolas"/>
              </a:rPr>
              <a:t>Step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0" y="3063240"/>
            <a:ext cx="640080" cy="640080"/>
          </a:xfrm>
          <a:prstGeom prst="roundRect">
            <a:avLst>
              <a:gd name="adj" fmla="val 14000"/>
            </a:avLst>
          </a:prstGeom>
          <a:noFill/>
          <a:ln w="19050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0" y="30632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 i="0">
                <a:solidFill>
                  <a:srgbClr val="232B2B"/>
                </a:solidFill>
                <a:latin typeface="Calibri"/>
              </a:rPr>
              <a:t>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59" y="2750058"/>
            <a:ext cx="2194560" cy="2400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32B2B"/>
                </a:solidFill>
                <a:latin typeface="Consolas"/>
              </a:rPr>
              <a:t>LLM</a:t>
            </a:r>
          </a:p>
        </p:txBody>
      </p:sp>
      <p:sp>
        <p:nvSpPr>
          <p:cNvPr id="13" name="Oval 12"/>
          <p:cNvSpPr/>
          <p:nvPr/>
        </p:nvSpPr>
        <p:spPr>
          <a:xfrm>
            <a:off x="7580375" y="2414016"/>
            <a:ext cx="384048" cy="384048"/>
          </a:xfrm>
          <a:prstGeom prst="ellipse">
            <a:avLst/>
          </a:prstGeom>
          <a:solidFill>
            <a:srgbClr val="ECECEC"/>
          </a:solidFill>
          <a:ln w="1905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100834"/>
            <a:ext cx="2194560" cy="2400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8A8A8A"/>
                </a:solidFill>
                <a:latin typeface="Consolas"/>
              </a:rPr>
              <a:t>Step 2</a:t>
            </a:r>
          </a:p>
        </p:txBody>
      </p:sp>
      <p:sp>
        <p:nvSpPr>
          <p:cNvPr id="15" name="Oval 14"/>
          <p:cNvSpPr/>
          <p:nvPr/>
        </p:nvSpPr>
        <p:spPr>
          <a:xfrm>
            <a:off x="7580375" y="3968496"/>
            <a:ext cx="384048" cy="384048"/>
          </a:xfrm>
          <a:prstGeom prst="ellipse">
            <a:avLst/>
          </a:prstGeom>
          <a:solidFill>
            <a:srgbClr val="ECECEC"/>
          </a:solidFill>
          <a:ln w="1905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3655313"/>
            <a:ext cx="2194560" cy="2400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8A8A8A"/>
                </a:solidFill>
                <a:latin typeface="Consolas"/>
              </a:rPr>
              <a:t>Step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42316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1">
                <a:solidFill>
                  <a:srgbClr val="232B2B"/>
                </a:solidFill>
                <a:latin typeface="Calibri"/>
              </a:rPr>
              <a:t>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977639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1">
                <a:solidFill>
                  <a:srgbClr val="232B2B"/>
                </a:solidFill>
                <a:latin typeface="Calibri"/>
              </a:rPr>
              <a:t>End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520440" y="3383280"/>
            <a:ext cx="813816" cy="0"/>
          </a:xfrm>
          <a:prstGeom prst="line">
            <a:avLst/>
          </a:prstGeom>
          <a:ln w="19050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809744" y="3383280"/>
            <a:ext cx="859535" cy="0"/>
          </a:xfrm>
          <a:prstGeom prst="line">
            <a:avLst/>
          </a:prstGeom>
          <a:ln w="19050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6396814" y="2703126"/>
            <a:ext cx="1158568" cy="518307"/>
          </a:xfrm>
          <a:prstGeom prst="line">
            <a:avLst/>
          </a:prstGeom>
          <a:ln w="19050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396814" y="3545126"/>
            <a:ext cx="1158568" cy="518307"/>
          </a:xfrm>
          <a:prstGeom prst="line">
            <a:avLst/>
          </a:prstGeom>
          <a:ln w="19050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010144" y="2606040"/>
            <a:ext cx="585216" cy="0"/>
          </a:xfrm>
          <a:prstGeom prst="line">
            <a:avLst/>
          </a:prstGeom>
          <a:ln w="19050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010144" y="4160520"/>
            <a:ext cx="585216" cy="0"/>
          </a:xfrm>
          <a:prstGeom prst="line">
            <a:avLst/>
          </a:prstGeom>
          <a:ln w="19050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7200" y="580644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8A8A8A"/>
                </a:solidFill>
                <a:latin typeface="Calibri"/>
              </a:rPr>
              <a:t>Reference:  </a:t>
            </a:r>
            <a:r>
              <a:rPr sz="1300" b="0" i="0">
                <a:solidFill>
                  <a:srgbClr val="3B7DD8"/>
                </a:solidFill>
                <a:latin typeface="Calibri"/>
                <a:hlinkClick r:id="rId2"/>
              </a:rPr>
              <a:t>What is an agent?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5737268" cy="54864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Fixed vs LLM-defined control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8A8A8A"/>
                </a:solidFill>
                <a:latin typeface="Calibri"/>
              </a:rPr>
              <a:t>AI Engineering  ·  Introduction to LangGraph ·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8A8A8A"/>
                </a:solidFill>
                <a:latin typeface="Calibri"/>
              </a:rPr>
              <a:t>8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08760" y="2697480"/>
            <a:ext cx="3611880" cy="1143000"/>
          </a:xfrm>
          <a:prstGeom prst="roundRect">
            <a:avLst>
              <a:gd name="adj" fmla="val 14000"/>
            </a:avLst>
          </a:prstGeom>
          <a:noFill/>
          <a:ln w="19050">
            <a:solidFill>
              <a:srgbClr val="23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04872" y="388620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1">
                <a:solidFill>
                  <a:srgbClr val="232B2B"/>
                </a:solidFill>
                <a:latin typeface="Calibri"/>
              </a:rPr>
              <a:t>Chain</a:t>
            </a:r>
          </a:p>
        </p:txBody>
      </p:sp>
      <p:sp>
        <p:nvSpPr>
          <p:cNvPr id="9" name="Oval 8"/>
          <p:cNvSpPr/>
          <p:nvPr/>
        </p:nvSpPr>
        <p:spPr>
          <a:xfrm>
            <a:off x="1856232" y="3182112"/>
            <a:ext cx="310896" cy="310896"/>
          </a:xfrm>
          <a:prstGeom prst="ellipse">
            <a:avLst/>
          </a:prstGeom>
          <a:solidFill>
            <a:srgbClr val="ECECEC"/>
          </a:solidFill>
          <a:ln w="1905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03220"/>
            <a:ext cx="219456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8A8A8A"/>
                </a:solidFill>
                <a:latin typeface="Consolas"/>
              </a:rPr>
              <a:t>Step 1</a:t>
            </a:r>
          </a:p>
        </p:txBody>
      </p:sp>
      <p:sp>
        <p:nvSpPr>
          <p:cNvPr id="11" name="Oval 10"/>
          <p:cNvSpPr/>
          <p:nvPr/>
        </p:nvSpPr>
        <p:spPr>
          <a:xfrm>
            <a:off x="2816352" y="3182112"/>
            <a:ext cx="310896" cy="310896"/>
          </a:xfrm>
          <a:prstGeom prst="ellipse">
            <a:avLst/>
          </a:prstGeom>
          <a:solidFill>
            <a:srgbClr val="ECECEC"/>
          </a:solidFill>
          <a:ln w="1905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74519" y="2903220"/>
            <a:ext cx="219456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8A8A8A"/>
                </a:solidFill>
                <a:latin typeface="Consolas"/>
              </a:rPr>
              <a:t>LLM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3136391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 i="0">
                <a:solidFill>
                  <a:srgbClr val="8A8A8A"/>
                </a:solidFill>
                <a:latin typeface="Calibri"/>
              </a:rPr>
              <a:t>…</a:t>
            </a:r>
          </a:p>
        </p:txBody>
      </p:sp>
      <p:sp>
        <p:nvSpPr>
          <p:cNvPr id="14" name="Oval 13"/>
          <p:cNvSpPr/>
          <p:nvPr/>
        </p:nvSpPr>
        <p:spPr>
          <a:xfrm>
            <a:off x="4462272" y="3182112"/>
            <a:ext cx="310896" cy="310896"/>
          </a:xfrm>
          <a:prstGeom prst="ellipse">
            <a:avLst/>
          </a:prstGeom>
          <a:solidFill>
            <a:srgbClr val="ECECEC"/>
          </a:solidFill>
          <a:ln w="1905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39" y="2903220"/>
            <a:ext cx="219456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8A8A8A"/>
                </a:solidFill>
                <a:latin typeface="Consolas"/>
              </a:rPr>
              <a:t>Step 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212848" y="3337560"/>
            <a:ext cx="557784" cy="0"/>
          </a:xfrm>
          <a:prstGeom prst="line">
            <a:avLst/>
          </a:prstGeom>
          <a:ln w="19050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172968" y="3337560"/>
            <a:ext cx="521208" cy="0"/>
          </a:xfrm>
          <a:prstGeom prst="line">
            <a:avLst/>
          </a:prstGeom>
          <a:ln w="19050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078224" y="3337560"/>
            <a:ext cx="338328" cy="0"/>
          </a:xfrm>
          <a:prstGeom prst="line">
            <a:avLst/>
          </a:prstGeom>
          <a:ln w="19050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20040" y="3154679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1">
                <a:solidFill>
                  <a:srgbClr val="232B2B"/>
                </a:solidFill>
                <a:latin typeface="Calibri"/>
              </a:rPr>
              <a:t>Start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188719" y="3337560"/>
            <a:ext cx="621793" cy="0"/>
          </a:xfrm>
          <a:prstGeom prst="line">
            <a:avLst/>
          </a:prstGeom>
          <a:ln w="19050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74920" y="3154679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1">
                <a:solidFill>
                  <a:srgbClr val="232B2B"/>
                </a:solidFill>
                <a:latin typeface="Calibri"/>
              </a:rPr>
              <a:t>End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18888" y="3337560"/>
            <a:ext cx="484632" cy="0"/>
          </a:xfrm>
          <a:prstGeom prst="line">
            <a:avLst/>
          </a:prstGeom>
          <a:ln w="19050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943600" y="306324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232B2B"/>
                </a:solidFill>
                <a:latin typeface="Calibri"/>
              </a:rPr>
              <a:t>vs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154679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1">
                <a:solidFill>
                  <a:srgbClr val="232B2B"/>
                </a:solidFill>
                <a:latin typeface="Calibri"/>
              </a:rPr>
              <a:t>Start</a:t>
            </a:r>
          </a:p>
        </p:txBody>
      </p:sp>
      <p:sp>
        <p:nvSpPr>
          <p:cNvPr id="25" name="Oval 24"/>
          <p:cNvSpPr/>
          <p:nvPr/>
        </p:nvSpPr>
        <p:spPr>
          <a:xfrm>
            <a:off x="7662672" y="3182112"/>
            <a:ext cx="310896" cy="310896"/>
          </a:xfrm>
          <a:prstGeom prst="ellipse">
            <a:avLst/>
          </a:prstGeom>
          <a:solidFill>
            <a:srgbClr val="ECECEC"/>
          </a:solidFill>
          <a:ln w="1905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2903220"/>
            <a:ext cx="219456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8A8A8A"/>
                </a:solidFill>
                <a:latin typeface="Consolas"/>
              </a:rPr>
              <a:t>Step 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81060" y="3086100"/>
            <a:ext cx="502920" cy="502920"/>
          </a:xfrm>
          <a:prstGeom prst="roundRect">
            <a:avLst>
              <a:gd name="adj" fmla="val 14000"/>
            </a:avLst>
          </a:prstGeom>
          <a:noFill/>
          <a:ln w="19050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81060" y="30861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 i="0">
                <a:solidFill>
                  <a:srgbClr val="232B2B"/>
                </a:solidFill>
                <a:latin typeface="Calibri"/>
              </a:rPr>
              <a:t>🧠</a:t>
            </a:r>
          </a:p>
        </p:txBody>
      </p:sp>
      <p:sp>
        <p:nvSpPr>
          <p:cNvPr id="29" name="Oval 28"/>
          <p:cNvSpPr/>
          <p:nvPr/>
        </p:nvSpPr>
        <p:spPr>
          <a:xfrm>
            <a:off x="9857232" y="2587752"/>
            <a:ext cx="310896" cy="310896"/>
          </a:xfrm>
          <a:prstGeom prst="ellipse">
            <a:avLst/>
          </a:prstGeom>
          <a:solidFill>
            <a:srgbClr val="ECECEC"/>
          </a:solidFill>
          <a:ln w="1905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5400" y="2308860"/>
            <a:ext cx="219456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8A8A8A"/>
                </a:solidFill>
                <a:latin typeface="Consolas"/>
              </a:rPr>
              <a:t>Step 2</a:t>
            </a:r>
          </a:p>
        </p:txBody>
      </p:sp>
      <p:sp>
        <p:nvSpPr>
          <p:cNvPr id="31" name="Oval 30"/>
          <p:cNvSpPr/>
          <p:nvPr/>
        </p:nvSpPr>
        <p:spPr>
          <a:xfrm>
            <a:off x="9857232" y="3776472"/>
            <a:ext cx="310896" cy="310896"/>
          </a:xfrm>
          <a:prstGeom prst="ellipse">
            <a:avLst/>
          </a:prstGeom>
          <a:solidFill>
            <a:srgbClr val="ECECEC"/>
          </a:solidFill>
          <a:ln w="1905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15400" y="3497579"/>
            <a:ext cx="219456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8A8A8A"/>
                </a:solidFill>
                <a:latin typeface="Consolas"/>
              </a:rPr>
              <a:t>Step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0" y="25603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1">
                <a:solidFill>
                  <a:srgbClr val="232B2B"/>
                </a:solidFill>
                <a:latin typeface="Calibri"/>
              </a:rPr>
              <a:t>End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0" y="3749039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1">
                <a:solidFill>
                  <a:srgbClr val="232B2B"/>
                </a:solidFill>
                <a:latin typeface="Calibri"/>
              </a:rPr>
              <a:t>End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223759" y="3337560"/>
            <a:ext cx="393193" cy="0"/>
          </a:xfrm>
          <a:prstGeom prst="line">
            <a:avLst/>
          </a:prstGeom>
          <a:ln w="19050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019288" y="3337560"/>
            <a:ext cx="416052" cy="0"/>
          </a:xfrm>
          <a:prstGeom prst="line">
            <a:avLst/>
          </a:prstGeom>
          <a:ln w="19050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9025448" y="2827914"/>
            <a:ext cx="804770" cy="373643"/>
          </a:xfrm>
          <a:prstGeom prst="line">
            <a:avLst/>
          </a:prstGeom>
          <a:ln w="19050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025448" y="3473562"/>
            <a:ext cx="804770" cy="373643"/>
          </a:xfrm>
          <a:prstGeom prst="line">
            <a:avLst/>
          </a:prstGeom>
          <a:ln w="19050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0213848" y="2743200"/>
            <a:ext cx="347472" cy="0"/>
          </a:xfrm>
          <a:prstGeom prst="line">
            <a:avLst/>
          </a:prstGeom>
          <a:ln w="19050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0213848" y="3931920"/>
            <a:ext cx="347472" cy="0"/>
          </a:xfrm>
          <a:prstGeom prst="line">
            <a:avLst/>
          </a:prstGeom>
          <a:ln w="19050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57200" y="580644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8A8A8A"/>
                </a:solidFill>
                <a:latin typeface="Calibri"/>
              </a:rPr>
              <a:t>Reference:  </a:t>
            </a:r>
            <a:r>
              <a:rPr sz="1300" b="0" i="0">
                <a:solidFill>
                  <a:srgbClr val="3B7DD8"/>
                </a:solidFill>
                <a:latin typeface="Calibri"/>
                <a:hlinkClick r:id="rId2"/>
              </a:rPr>
              <a:t>What is an agent?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6454426" cy="54864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Many kinds of agents!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8A8A8A"/>
                </a:solidFill>
                <a:latin typeface="Calibri"/>
              </a:rPr>
              <a:t>AI Engineering  ·  Introduction to LangGraph ·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8A8A8A"/>
                </a:solidFill>
                <a:latin typeface="Calibri"/>
              </a:rPr>
              <a:t>9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18872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0" i="1">
                <a:solidFill>
                  <a:srgbClr val="232B2B"/>
                </a:solidFill>
                <a:latin typeface="Calibri"/>
              </a:rPr>
              <a:t>Router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1">
                <a:solidFill>
                  <a:srgbClr val="232B2B"/>
                </a:solidFill>
                <a:latin typeface="Calibri"/>
              </a:rPr>
              <a:t>Start</a:t>
            </a:r>
          </a:p>
        </p:txBody>
      </p:sp>
      <p:sp>
        <p:nvSpPr>
          <p:cNvPr id="9" name="Oval 8"/>
          <p:cNvSpPr/>
          <p:nvPr/>
        </p:nvSpPr>
        <p:spPr>
          <a:xfrm>
            <a:off x="1993392" y="2587752"/>
            <a:ext cx="310896" cy="310896"/>
          </a:xfrm>
          <a:prstGeom prst="ellipse">
            <a:avLst/>
          </a:prstGeom>
          <a:solidFill>
            <a:srgbClr val="ECECEC"/>
          </a:solidFill>
          <a:ln w="1905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308860"/>
            <a:ext cx="219456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8A8A8A"/>
                </a:solidFill>
                <a:latin typeface="Consolas"/>
              </a:rPr>
              <a:t>Step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57500" y="2491740"/>
            <a:ext cx="502920" cy="502920"/>
          </a:xfrm>
          <a:prstGeom prst="roundRect">
            <a:avLst>
              <a:gd name="adj" fmla="val 14000"/>
            </a:avLst>
          </a:prstGeom>
          <a:noFill/>
          <a:ln w="19050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57500" y="24917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 i="0">
                <a:solidFill>
                  <a:srgbClr val="232B2B"/>
                </a:solidFill>
                <a:latin typeface="Calibri"/>
              </a:rPr>
              <a:t>🧠</a:t>
            </a:r>
          </a:p>
        </p:txBody>
      </p:sp>
      <p:sp>
        <p:nvSpPr>
          <p:cNvPr id="13" name="Oval 12"/>
          <p:cNvSpPr/>
          <p:nvPr/>
        </p:nvSpPr>
        <p:spPr>
          <a:xfrm>
            <a:off x="4050792" y="2084832"/>
            <a:ext cx="310896" cy="310896"/>
          </a:xfrm>
          <a:prstGeom prst="ellipse">
            <a:avLst/>
          </a:prstGeom>
          <a:solidFill>
            <a:srgbClr val="ECECEC"/>
          </a:solidFill>
          <a:ln w="1905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1805940"/>
            <a:ext cx="219456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8A8A8A"/>
                </a:solidFill>
                <a:latin typeface="Consolas"/>
              </a:rPr>
              <a:t>Step 2</a:t>
            </a:r>
          </a:p>
        </p:txBody>
      </p:sp>
      <p:sp>
        <p:nvSpPr>
          <p:cNvPr id="15" name="Oval 14"/>
          <p:cNvSpPr/>
          <p:nvPr/>
        </p:nvSpPr>
        <p:spPr>
          <a:xfrm>
            <a:off x="4050792" y="3090672"/>
            <a:ext cx="310896" cy="310896"/>
          </a:xfrm>
          <a:prstGeom prst="ellipse">
            <a:avLst/>
          </a:prstGeom>
          <a:solidFill>
            <a:srgbClr val="ECECEC"/>
          </a:solidFill>
          <a:ln w="1905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2811779"/>
            <a:ext cx="219456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8A8A8A"/>
                </a:solidFill>
                <a:latin typeface="Consolas"/>
              </a:rPr>
              <a:t>Step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9714" y="2057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1">
                <a:solidFill>
                  <a:srgbClr val="232B2B"/>
                </a:solidFill>
                <a:latin typeface="Calibri"/>
              </a:rPr>
              <a:t>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9714" y="3063239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1">
                <a:solidFill>
                  <a:srgbClr val="232B2B"/>
                </a:solidFill>
                <a:latin typeface="Calibri"/>
              </a:rPr>
              <a:t>End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508760" y="2743200"/>
            <a:ext cx="438912" cy="0"/>
          </a:xfrm>
          <a:prstGeom prst="line">
            <a:avLst/>
          </a:prstGeom>
          <a:ln w="19050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350008" y="2743200"/>
            <a:ext cx="461772" cy="0"/>
          </a:xfrm>
          <a:prstGeom prst="line">
            <a:avLst/>
          </a:prstGeom>
          <a:ln w="19050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401982" y="2324097"/>
            <a:ext cx="621383" cy="284801"/>
          </a:xfrm>
          <a:prstGeom prst="line">
            <a:avLst/>
          </a:prstGeom>
          <a:ln w="19050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401982" y="2877501"/>
            <a:ext cx="621383" cy="284801"/>
          </a:xfrm>
          <a:prstGeom prst="line">
            <a:avLst/>
          </a:prstGeom>
          <a:ln w="19050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407408" y="2240280"/>
            <a:ext cx="390906" cy="0"/>
          </a:xfrm>
          <a:prstGeom prst="line">
            <a:avLst/>
          </a:prstGeom>
          <a:ln w="19050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407408" y="3246120"/>
            <a:ext cx="390906" cy="0"/>
          </a:xfrm>
          <a:prstGeom prst="line">
            <a:avLst/>
          </a:prstGeom>
          <a:ln w="19050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223760" y="118872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0" i="1">
                <a:solidFill>
                  <a:srgbClr val="232B2B"/>
                </a:solidFill>
                <a:latin typeface="Calibri"/>
              </a:rPr>
              <a:t>Fully Autonomous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22208" y="2487168"/>
            <a:ext cx="512064" cy="512064"/>
          </a:xfrm>
          <a:prstGeom prst="roundRect">
            <a:avLst>
              <a:gd name="adj" fmla="val 14000"/>
            </a:avLst>
          </a:prstGeom>
          <a:noFill/>
          <a:ln w="19050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22208" y="2487168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232B2B"/>
                </a:solidFill>
                <a:latin typeface="Calibri"/>
              </a:rPr>
              <a:t>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43900" y="1664208"/>
            <a:ext cx="868680" cy="713232"/>
          </a:xfrm>
          <a:prstGeom prst="roundRect">
            <a:avLst>
              <a:gd name="adj" fmla="val 14000"/>
            </a:avLst>
          </a:prstGeom>
          <a:noFill/>
          <a:ln w="1587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43900" y="1664208"/>
            <a:ext cx="8686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8A8A8A"/>
                </a:solidFill>
                <a:latin typeface="Consolas"/>
              </a:rPr>
              <a:t>Step N</a:t>
            </a:r>
          </a:p>
          <a:p>
            <a:pPr algn="ctr"/>
            <a:r>
              <a:rPr sz="900" b="0" i="0">
                <a:solidFill>
                  <a:srgbClr val="8A8A8A"/>
                </a:solidFill>
                <a:latin typeface="Consolas"/>
              </a:rPr>
              <a:t>…</a:t>
            </a:r>
          </a:p>
          <a:p>
            <a:pPr algn="ctr"/>
            <a:r>
              <a:rPr sz="900" b="0" i="0">
                <a:solidFill>
                  <a:srgbClr val="8A8A8A"/>
                </a:solidFill>
                <a:latin typeface="Consolas"/>
              </a:rPr>
              <a:t>Step 2</a:t>
            </a:r>
          </a:p>
          <a:p>
            <a:pPr algn="ctr"/>
            <a:r>
              <a:rPr sz="900" b="0" i="0">
                <a:solidFill>
                  <a:srgbClr val="8A8A8A"/>
                </a:solidFill>
                <a:latin typeface="Consolas"/>
              </a:rPr>
              <a:t>Step 1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778240" y="2377440"/>
            <a:ext cx="0" cy="109728"/>
          </a:xfrm>
          <a:prstGeom prst="line">
            <a:avLst/>
          </a:prstGeom>
          <a:ln w="15875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040880" y="25603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1">
                <a:solidFill>
                  <a:srgbClr val="232B2B"/>
                </a:solidFill>
                <a:latin typeface="Calibri"/>
              </a:rPr>
              <a:t>Start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909560" y="2743200"/>
            <a:ext cx="566928" cy="0"/>
          </a:xfrm>
          <a:prstGeom prst="line">
            <a:avLst/>
          </a:prstGeom>
          <a:ln w="19050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418320" y="25603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1">
                <a:solidFill>
                  <a:srgbClr val="232B2B"/>
                </a:solidFill>
                <a:latin typeface="Calibri"/>
              </a:rPr>
              <a:t>End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079992" y="2743200"/>
            <a:ext cx="566928" cy="0"/>
          </a:xfrm>
          <a:prstGeom prst="line">
            <a:avLst/>
          </a:prstGeom>
          <a:ln w="19050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Freeform 34"/>
          <p:cNvSpPr/>
          <p:nvPr/>
        </p:nvSpPr>
        <p:spPr>
          <a:xfrm>
            <a:off x="8625288" y="3026664"/>
            <a:ext cx="305903" cy="377190"/>
          </a:xfrm>
          <a:custGeom>
            <a:avLst/>
            <a:gdLst/>
            <a:ahLst/>
            <a:cxnLst/>
            <a:rect l="l" t="t" r="r" b="b"/>
            <a:pathLst>
              <a:path w="305903" h="377190">
                <a:moveTo>
                  <a:pt x="280968" y="0"/>
                </a:moveTo>
                <a:lnTo>
                  <a:pt x="299155" y="79163"/>
                </a:lnTo>
                <a:lnTo>
                  <a:pt x="305903" y="149013"/>
                </a:lnTo>
                <a:lnTo>
                  <a:pt x="302642" y="209550"/>
                </a:lnTo>
                <a:lnTo>
                  <a:pt x="290801" y="260773"/>
                </a:lnTo>
                <a:lnTo>
                  <a:pt x="271811" y="302683"/>
                </a:lnTo>
                <a:lnTo>
                  <a:pt x="247101" y="335280"/>
                </a:lnTo>
                <a:lnTo>
                  <a:pt x="218101" y="358563"/>
                </a:lnTo>
                <a:lnTo>
                  <a:pt x="186241" y="372533"/>
                </a:lnTo>
                <a:lnTo>
                  <a:pt x="152952" y="377190"/>
                </a:lnTo>
                <a:lnTo>
                  <a:pt x="119662" y="372533"/>
                </a:lnTo>
                <a:lnTo>
                  <a:pt x="87802" y="358563"/>
                </a:lnTo>
                <a:lnTo>
                  <a:pt x="58802" y="335280"/>
                </a:lnTo>
                <a:lnTo>
                  <a:pt x="34092" y="302683"/>
                </a:lnTo>
                <a:lnTo>
                  <a:pt x="15102" y="260773"/>
                </a:lnTo>
                <a:lnTo>
                  <a:pt x="3261" y="209550"/>
                </a:lnTo>
                <a:lnTo>
                  <a:pt x="0" y="149013"/>
                </a:lnTo>
                <a:lnTo>
                  <a:pt x="6748" y="79163"/>
                </a:lnTo>
                <a:lnTo>
                  <a:pt x="24936" y="0"/>
                </a:lnTo>
              </a:path>
            </a:pathLst>
          </a:custGeom>
          <a:noFill/>
          <a:ln w="19050">
            <a:solidFill>
              <a:srgbClr val="232B2B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2011680" y="4069080"/>
            <a:ext cx="8046720" cy="457200"/>
          </a:xfrm>
          <a:custGeom>
            <a:avLst/>
            <a:gdLst/>
            <a:ahLst/>
            <a:cxnLst/>
            <a:rect l="l" t="t" r="r" b="b"/>
            <a:pathLst>
              <a:path w="8046720" h="457200">
                <a:moveTo>
                  <a:pt x="0" y="457200"/>
                </a:moveTo>
                <a:lnTo>
                  <a:pt x="8046720" y="0"/>
                </a:lnTo>
                <a:lnTo>
                  <a:pt x="8046720" y="457200"/>
                </a:lnTo>
                <a:close/>
              </a:path>
            </a:pathLst>
          </a:custGeom>
          <a:noFill/>
          <a:ln w="12700">
            <a:solidFill>
              <a:srgbClr val="23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43891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 i="0">
                <a:solidFill>
                  <a:srgbClr val="232B2B"/>
                </a:solidFill>
                <a:latin typeface="Consolas"/>
              </a:rPr>
              <a:t>Less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0" y="43891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232B2B"/>
                </a:solidFill>
                <a:latin typeface="Consolas"/>
              </a:rPr>
              <a:t>More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46177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 i="0">
                <a:solidFill>
                  <a:srgbClr val="232B2B"/>
                </a:solidFill>
                <a:latin typeface="Consolas"/>
              </a:rPr>
              <a:t>Control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80644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8A8A8A"/>
                </a:solidFill>
                <a:latin typeface="Calibri"/>
              </a:rPr>
              <a:t>Reference:  </a:t>
            </a:r>
            <a:r>
              <a:rPr sz="1300" b="0" i="0">
                <a:solidFill>
                  <a:srgbClr val="3B7DD8"/>
                </a:solidFill>
                <a:latin typeface="Calibri"/>
                <a:hlinkClick r:id="rId2"/>
              </a:rPr>
              <a:t>What is a cognitive architecture?</a:t>
            </a:r>
            <a:r>
              <a:rPr sz="1300" b="0" i="0">
                <a:solidFill>
                  <a:srgbClr val="232B2B"/>
                </a:solidFill>
                <a:latin typeface="Calibri"/>
              </a:rPr>
              <a:t>     </a:t>
            </a:r>
            <a:r>
              <a:rPr sz="1300" b="0" i="0">
                <a:solidFill>
                  <a:srgbClr val="3B7DD8"/>
                </a:solidFill>
                <a:latin typeface="Calibri"/>
                <a:hlinkClick r:id="rId3"/>
              </a:rPr>
              <a:t>Andrew Ng on agentic degrees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7171585" cy="54864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But, practical challenges.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8A8A8A"/>
                </a:solidFill>
                <a:latin typeface="Calibri"/>
              </a:rPr>
              <a:t>AI Engineering  ·  Introduction to LangGraph ·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8A8A8A"/>
                </a:solidFill>
                <a:latin typeface="Calibri"/>
              </a:rPr>
              <a:t>10 / 17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0" y="3794760"/>
            <a:ext cx="5669280" cy="0"/>
          </a:xfrm>
          <a:prstGeom prst="line">
            <a:avLst/>
          </a:prstGeom>
          <a:ln w="15875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2743200" y="1245412"/>
            <a:ext cx="0" cy="2549348"/>
          </a:xfrm>
          <a:prstGeom prst="line">
            <a:avLst/>
          </a:prstGeom>
          <a:ln w="15875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920240" y="117043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232B2B"/>
                </a:solidFill>
                <a:latin typeface="Consolas"/>
              </a:rPr>
              <a:t>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6576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232B2B"/>
                </a:solidFill>
                <a:latin typeface="Consolas"/>
              </a:rPr>
              <a:t>Low</a:t>
            </a:r>
          </a:p>
        </p:txBody>
      </p:sp>
      <p:sp>
        <p:nvSpPr>
          <p:cNvPr id="11" name="TextBox 10"/>
          <p:cNvSpPr txBox="1"/>
          <p:nvPr/>
        </p:nvSpPr>
        <p:spPr>
          <a:xfrm rot="16200000">
            <a:off x="2217420" y="4594859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232B2B"/>
                </a:solidFill>
                <a:latin typeface="Consolas"/>
              </a:rPr>
              <a:t>Code</a:t>
            </a:r>
          </a:p>
        </p:txBody>
      </p:sp>
      <p:sp>
        <p:nvSpPr>
          <p:cNvPr id="12" name="TextBox 11"/>
          <p:cNvSpPr txBox="1"/>
          <p:nvPr/>
        </p:nvSpPr>
        <p:spPr>
          <a:xfrm rot="16200000">
            <a:off x="3131820" y="4594859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232B2B"/>
                </a:solidFill>
                <a:latin typeface="Consolas"/>
              </a:rPr>
              <a:t>LLM call / chain</a:t>
            </a:r>
          </a:p>
        </p:txBody>
      </p:sp>
      <p:sp>
        <p:nvSpPr>
          <p:cNvPr id="13" name="TextBox 12"/>
          <p:cNvSpPr txBox="1"/>
          <p:nvPr/>
        </p:nvSpPr>
        <p:spPr>
          <a:xfrm rot="16200000">
            <a:off x="4366260" y="4594859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232B2B"/>
                </a:solidFill>
                <a:latin typeface="Consolas"/>
              </a:rPr>
              <a:t>Router</a:t>
            </a:r>
          </a:p>
        </p:txBody>
      </p:sp>
      <p:sp>
        <p:nvSpPr>
          <p:cNvPr id="14" name="TextBox 13"/>
          <p:cNvSpPr txBox="1"/>
          <p:nvPr/>
        </p:nvSpPr>
        <p:spPr>
          <a:xfrm rot="16200000">
            <a:off x="6652259" y="4594859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232B2B"/>
                </a:solidFill>
                <a:latin typeface="Consolas"/>
              </a:rPr>
              <a:t>Fully autonomous</a:t>
            </a:r>
          </a:p>
        </p:txBody>
      </p:sp>
      <p:sp>
        <p:nvSpPr>
          <p:cNvPr id="15" name="Freeform 14"/>
          <p:cNvSpPr/>
          <p:nvPr/>
        </p:nvSpPr>
        <p:spPr>
          <a:xfrm>
            <a:off x="3017520" y="1494129"/>
            <a:ext cx="4663440" cy="2114093"/>
          </a:xfrm>
          <a:custGeom>
            <a:avLst/>
            <a:gdLst/>
            <a:ahLst/>
            <a:cxnLst/>
            <a:rect l="l" t="t" r="r" b="b"/>
            <a:pathLst>
              <a:path w="4663440" h="2114093">
                <a:moveTo>
                  <a:pt x="0" y="2114093"/>
                </a:moveTo>
                <a:lnTo>
                  <a:pt x="4663440" y="0"/>
                </a:lnTo>
              </a:path>
            </a:pathLst>
          </a:custGeom>
          <a:noFill/>
          <a:ln w="25400">
            <a:solidFill>
              <a:srgbClr val="4CAF5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54112" y="1356969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4CAF50"/>
                </a:solidFill>
                <a:latin typeface="Consolas"/>
              </a:rPr>
              <a:t>Agency</a:t>
            </a:r>
          </a:p>
        </p:txBody>
      </p:sp>
      <p:sp>
        <p:nvSpPr>
          <p:cNvPr id="17" name="Freeform 16"/>
          <p:cNvSpPr/>
          <p:nvPr/>
        </p:nvSpPr>
        <p:spPr>
          <a:xfrm>
            <a:off x="3017520" y="1494129"/>
            <a:ext cx="4663440" cy="2051914"/>
          </a:xfrm>
          <a:custGeom>
            <a:avLst/>
            <a:gdLst/>
            <a:ahLst/>
            <a:cxnLst/>
            <a:rect l="l" t="t" r="r" b="b"/>
            <a:pathLst>
              <a:path w="4663440" h="2051914">
                <a:moveTo>
                  <a:pt x="0" y="0"/>
                </a:moveTo>
                <a:lnTo>
                  <a:pt x="4663440" y="2051914"/>
                </a:lnTo>
              </a:path>
            </a:pathLst>
          </a:custGeom>
          <a:noFill/>
          <a:ln w="25400">
            <a:solidFill>
              <a:srgbClr val="3B7DD8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54112" y="3408883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3B7DD8"/>
                </a:solidFill>
                <a:latin typeface="Consolas"/>
              </a:rPr>
              <a:t>Reliability</a:t>
            </a:r>
          </a:p>
        </p:txBody>
      </p:sp>
      <p:sp>
        <p:nvSpPr>
          <p:cNvPr id="19" name="Freeform 18"/>
          <p:cNvSpPr/>
          <p:nvPr/>
        </p:nvSpPr>
        <p:spPr>
          <a:xfrm>
            <a:off x="3017520" y="5715000"/>
            <a:ext cx="4846320" cy="182880"/>
          </a:xfrm>
          <a:custGeom>
            <a:avLst/>
            <a:gdLst/>
            <a:ahLst/>
            <a:cxnLst/>
            <a:rect l="l" t="t" r="r" b="b"/>
            <a:pathLst>
              <a:path w="4846320" h="182880">
                <a:moveTo>
                  <a:pt x="0" y="182880"/>
                </a:moveTo>
                <a:lnTo>
                  <a:pt x="4846320" y="0"/>
                </a:lnTo>
                <a:lnTo>
                  <a:pt x="4846320" y="182880"/>
                </a:lnTo>
                <a:close/>
              </a:path>
            </a:pathLst>
          </a:custGeom>
          <a:noFill/>
          <a:ln w="12700">
            <a:solidFill>
              <a:srgbClr val="23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94560" y="575157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232B2B"/>
                </a:solidFill>
                <a:latin typeface="Consolas"/>
              </a:rPr>
              <a:t>Less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575157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2B2B"/>
                </a:solidFill>
                <a:latin typeface="Consolas"/>
              </a:rPr>
              <a:t>More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59344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232B2B"/>
                </a:solidFill>
                <a:latin typeface="Consolas"/>
              </a:rPr>
              <a:t>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2194560"/>
            <a:ext cx="274320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i="0">
                <a:solidFill>
                  <a:srgbClr val="232B2B"/>
                </a:solidFill>
                <a:latin typeface="Calibri"/>
              </a:rPr>
              <a:t>The more control you hand the LLM, the more </a:t>
            </a:r>
            <a:r>
              <a:rPr sz="2000" b="0" i="0">
                <a:solidFill>
                  <a:srgbClr val="4CAF50"/>
                </a:solidFill>
                <a:latin typeface="Calibri"/>
              </a:rPr>
              <a:t>agency</a:t>
            </a:r>
            <a:r>
              <a:rPr sz="2000" b="0" i="0">
                <a:solidFill>
                  <a:srgbClr val="232B2B"/>
                </a:solidFill>
                <a:latin typeface="Calibri"/>
              </a:rPr>
              <a:t> you get — and the less </a:t>
            </a:r>
            <a:r>
              <a:rPr sz="2000" b="0" i="0">
                <a:solidFill>
                  <a:srgbClr val="3B7DD8"/>
                </a:solidFill>
                <a:latin typeface="Calibri"/>
              </a:rPr>
              <a:t>reliability</a:t>
            </a:r>
            <a:r>
              <a:rPr sz="2000" b="0" i="0">
                <a:solidFill>
                  <a:srgbClr val="232B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7888743" cy="54864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LangGraph helps you bend the reliability curve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8A8A8A"/>
                </a:solidFill>
                <a:latin typeface="Calibri"/>
              </a:rPr>
              <a:t>AI Engineering  ·  Introduction to LangGraph ·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8A8A8A"/>
                </a:solidFill>
                <a:latin typeface="Calibri"/>
              </a:rPr>
              <a:t>11 / 17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0" y="3794760"/>
            <a:ext cx="5669280" cy="0"/>
          </a:xfrm>
          <a:prstGeom prst="line">
            <a:avLst/>
          </a:prstGeom>
          <a:ln w="15875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2743200" y="1245412"/>
            <a:ext cx="0" cy="2549348"/>
          </a:xfrm>
          <a:prstGeom prst="line">
            <a:avLst/>
          </a:prstGeom>
          <a:ln w="15875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920240" y="117043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232B2B"/>
                </a:solidFill>
                <a:latin typeface="Consolas"/>
              </a:rPr>
              <a:t>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6576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232B2B"/>
                </a:solidFill>
                <a:latin typeface="Consolas"/>
              </a:rPr>
              <a:t>Low</a:t>
            </a:r>
          </a:p>
        </p:txBody>
      </p:sp>
      <p:sp>
        <p:nvSpPr>
          <p:cNvPr id="11" name="TextBox 10"/>
          <p:cNvSpPr txBox="1"/>
          <p:nvPr/>
        </p:nvSpPr>
        <p:spPr>
          <a:xfrm rot="16200000">
            <a:off x="2217420" y="4594859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232B2B"/>
                </a:solidFill>
                <a:latin typeface="Consolas"/>
              </a:rPr>
              <a:t>Code</a:t>
            </a:r>
          </a:p>
        </p:txBody>
      </p:sp>
      <p:sp>
        <p:nvSpPr>
          <p:cNvPr id="12" name="TextBox 11"/>
          <p:cNvSpPr txBox="1"/>
          <p:nvPr/>
        </p:nvSpPr>
        <p:spPr>
          <a:xfrm rot="16200000">
            <a:off x="3131820" y="4594859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232B2B"/>
                </a:solidFill>
                <a:latin typeface="Consolas"/>
              </a:rPr>
              <a:t>LLM call / chain</a:t>
            </a:r>
          </a:p>
        </p:txBody>
      </p:sp>
      <p:sp>
        <p:nvSpPr>
          <p:cNvPr id="13" name="TextBox 12"/>
          <p:cNvSpPr txBox="1"/>
          <p:nvPr/>
        </p:nvSpPr>
        <p:spPr>
          <a:xfrm rot="16200000">
            <a:off x="4366260" y="4594859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232B2B"/>
                </a:solidFill>
                <a:latin typeface="Consolas"/>
              </a:rPr>
              <a:t>Router</a:t>
            </a:r>
          </a:p>
        </p:txBody>
      </p:sp>
      <p:sp>
        <p:nvSpPr>
          <p:cNvPr id="14" name="TextBox 13"/>
          <p:cNvSpPr txBox="1"/>
          <p:nvPr/>
        </p:nvSpPr>
        <p:spPr>
          <a:xfrm rot="16200000">
            <a:off x="6652259" y="4594859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232B2B"/>
                </a:solidFill>
                <a:latin typeface="Consolas"/>
              </a:rPr>
              <a:t>Fully autonomous</a:t>
            </a:r>
          </a:p>
        </p:txBody>
      </p:sp>
      <p:sp>
        <p:nvSpPr>
          <p:cNvPr id="15" name="Freeform 14"/>
          <p:cNvSpPr/>
          <p:nvPr/>
        </p:nvSpPr>
        <p:spPr>
          <a:xfrm>
            <a:off x="3017520" y="1494129"/>
            <a:ext cx="4663440" cy="2114093"/>
          </a:xfrm>
          <a:custGeom>
            <a:avLst/>
            <a:gdLst/>
            <a:ahLst/>
            <a:cxnLst/>
            <a:rect l="l" t="t" r="r" b="b"/>
            <a:pathLst>
              <a:path w="4663440" h="2114093">
                <a:moveTo>
                  <a:pt x="0" y="2114093"/>
                </a:moveTo>
                <a:lnTo>
                  <a:pt x="4663440" y="0"/>
                </a:lnTo>
              </a:path>
            </a:pathLst>
          </a:custGeom>
          <a:noFill/>
          <a:ln w="25400">
            <a:solidFill>
              <a:srgbClr val="4CAF5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54112" y="1356969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4CAF50"/>
                </a:solidFill>
                <a:latin typeface="Consolas"/>
              </a:rPr>
              <a:t>Agency</a:t>
            </a:r>
          </a:p>
        </p:txBody>
      </p:sp>
      <p:sp>
        <p:nvSpPr>
          <p:cNvPr id="17" name="Freeform 16"/>
          <p:cNvSpPr/>
          <p:nvPr/>
        </p:nvSpPr>
        <p:spPr>
          <a:xfrm>
            <a:off x="7040880" y="2426817"/>
            <a:ext cx="0" cy="1150315"/>
          </a:xfrm>
          <a:custGeom>
            <a:avLst/>
            <a:gdLst/>
            <a:ahLst/>
            <a:cxnLst/>
            <a:rect l="l" t="t" r="r" b="b"/>
            <a:pathLst>
              <a:path w="0" h="1150315">
                <a:moveTo>
                  <a:pt x="0" y="1150315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D64545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0" y="2911449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D64545"/>
                </a:solidFill>
                <a:latin typeface="Calibri"/>
              </a:rPr>
              <a:t>LangGraph</a:t>
            </a:r>
          </a:p>
        </p:txBody>
      </p:sp>
      <p:sp>
        <p:nvSpPr>
          <p:cNvPr id="19" name="Freeform 18"/>
          <p:cNvSpPr/>
          <p:nvPr/>
        </p:nvSpPr>
        <p:spPr>
          <a:xfrm>
            <a:off x="3017520" y="1494129"/>
            <a:ext cx="4663440" cy="839419"/>
          </a:xfrm>
          <a:custGeom>
            <a:avLst/>
            <a:gdLst/>
            <a:ahLst/>
            <a:cxnLst/>
            <a:rect l="l" t="t" r="r" b="b"/>
            <a:pathLst>
              <a:path w="4663440" h="839419">
                <a:moveTo>
                  <a:pt x="0" y="0"/>
                </a:moveTo>
                <a:lnTo>
                  <a:pt x="2194560" y="590703"/>
                </a:lnTo>
                <a:lnTo>
                  <a:pt x="4663440" y="839419"/>
                </a:lnTo>
              </a:path>
            </a:pathLst>
          </a:custGeom>
          <a:noFill/>
          <a:ln w="25400">
            <a:solidFill>
              <a:srgbClr val="3B7DD8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219638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3B7DD8"/>
                </a:solidFill>
                <a:latin typeface="Consolas"/>
              </a:rPr>
              <a:t>Reliability</a:t>
            </a:r>
          </a:p>
        </p:txBody>
      </p:sp>
      <p:sp>
        <p:nvSpPr>
          <p:cNvPr id="21" name="Freeform 20"/>
          <p:cNvSpPr/>
          <p:nvPr/>
        </p:nvSpPr>
        <p:spPr>
          <a:xfrm>
            <a:off x="3017520" y="5715000"/>
            <a:ext cx="4846320" cy="182880"/>
          </a:xfrm>
          <a:custGeom>
            <a:avLst/>
            <a:gdLst/>
            <a:ahLst/>
            <a:cxnLst/>
            <a:rect l="l" t="t" r="r" b="b"/>
            <a:pathLst>
              <a:path w="4846320" h="182880">
                <a:moveTo>
                  <a:pt x="0" y="182880"/>
                </a:moveTo>
                <a:lnTo>
                  <a:pt x="4846320" y="0"/>
                </a:lnTo>
                <a:lnTo>
                  <a:pt x="4846320" y="182880"/>
                </a:lnTo>
                <a:close/>
              </a:path>
            </a:pathLst>
          </a:custGeom>
          <a:noFill/>
          <a:ln w="12700">
            <a:solidFill>
              <a:srgbClr val="23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94560" y="575157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232B2B"/>
                </a:solidFill>
                <a:latin typeface="Consolas"/>
              </a:rPr>
              <a:t>Less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575157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2B2B"/>
                </a:solidFill>
                <a:latin typeface="Consolas"/>
              </a:rPr>
              <a:t>More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59344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232B2B"/>
                </a:solidFill>
                <a:latin typeface="Consolas"/>
              </a:rPr>
              <a:t>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2194560"/>
            <a:ext cx="274320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i="0">
                <a:solidFill>
                  <a:srgbClr val="232B2B"/>
                </a:solidFill>
                <a:latin typeface="Calibri"/>
              </a:rPr>
              <a:t>Keep most of the </a:t>
            </a:r>
            <a:r>
              <a:rPr sz="2000" b="0" i="0">
                <a:solidFill>
                  <a:srgbClr val="4CAF50"/>
                </a:solidFill>
                <a:latin typeface="Calibri"/>
              </a:rPr>
              <a:t>agency</a:t>
            </a:r>
            <a:r>
              <a:rPr sz="2000" b="0" i="0">
                <a:solidFill>
                  <a:srgbClr val="232B2B"/>
                </a:solidFill>
                <a:latin typeface="Calibri"/>
              </a:rPr>
              <a:t>, lose far less </a:t>
            </a:r>
            <a:r>
              <a:rPr sz="2000" b="0" i="0">
                <a:solidFill>
                  <a:srgbClr val="3B7DD8"/>
                </a:solidFill>
                <a:latin typeface="Calibri"/>
              </a:rPr>
              <a:t>reliability</a:t>
            </a:r>
            <a:r>
              <a:rPr sz="2000" b="0" i="0">
                <a:solidFill>
                  <a:srgbClr val="232B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C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5486400" y="1965960"/>
            <a:ext cx="1216152" cy="365760"/>
          </a:xfrm>
          <a:custGeom>
            <a:avLst/>
            <a:gdLst/>
            <a:ahLst/>
            <a:cxnLst/>
            <a:rect l="l" t="t" r="r" b="b"/>
            <a:pathLst>
              <a:path w="1216152" h="365760">
                <a:moveTo>
                  <a:pt x="0" y="365760"/>
                </a:moveTo>
                <a:lnTo>
                  <a:pt x="609904" y="0"/>
                </a:lnTo>
                <a:lnTo>
                  <a:pt x="1216152" y="365760"/>
                </a:lnTo>
              </a:path>
            </a:pathLst>
          </a:custGeom>
          <a:noFill/>
          <a:ln w="31750">
            <a:solidFill>
              <a:srgbClr val="7A5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58384" y="2203703"/>
            <a:ext cx="256032" cy="256032"/>
          </a:xfrm>
          <a:prstGeom prst="ellipse">
            <a:avLst/>
          </a:prstGeom>
          <a:solidFill>
            <a:srgbClr val="7A5AF8"/>
          </a:solidFill>
          <a:ln w="19050">
            <a:solidFill>
              <a:srgbClr val="7A5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968288" y="1837943"/>
            <a:ext cx="256032" cy="256032"/>
          </a:xfrm>
          <a:prstGeom prst="ellipse">
            <a:avLst/>
          </a:prstGeom>
          <a:solidFill>
            <a:srgbClr val="7A5AF8"/>
          </a:solidFill>
          <a:ln w="19050">
            <a:solidFill>
              <a:srgbClr val="7A5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574536" y="2203703"/>
            <a:ext cx="256032" cy="256032"/>
          </a:xfrm>
          <a:prstGeom prst="ellipse">
            <a:avLst/>
          </a:prstGeom>
          <a:solidFill>
            <a:srgbClr val="7A5AF8"/>
          </a:solidFill>
          <a:ln w="19050">
            <a:solidFill>
              <a:srgbClr val="7A5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10362895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"/>
              </a:rPr>
              <a:t>LangGraph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20440"/>
            <a:ext cx="1036289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0" i="0">
                <a:solidFill>
                  <a:srgbClr val="C9D4D4"/>
                </a:solidFill>
                <a:latin typeface="Calibri"/>
              </a:rPr>
              <a:t>Balance reliability with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C9D4D4"/>
                </a:solidFill>
                <a:latin typeface="Calibri"/>
              </a:rPr>
              <a:t>AI Engineering  ·  Introduction to LangGraph · Motivation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C9D4D4"/>
                </a:solidFill>
                <a:latin typeface="Calibri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323061" cy="54864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Intuition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8A8A8A"/>
                </a:solidFill>
                <a:latin typeface="Calibri"/>
              </a:rPr>
              <a:t>AI Engineering  ·  Introduction to LangGraph ·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8A8A8A"/>
                </a:solidFill>
                <a:latin typeface="Calibri"/>
              </a:rPr>
              <a:t>13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0" i="0">
                <a:solidFill>
                  <a:srgbClr val="3B7DD8"/>
                </a:solidFill>
                <a:latin typeface="Calibri"/>
              </a:rPr>
              <a:t>Let the developer set parts of control flow </a:t>
            </a:r>
            <a:r>
              <a:rPr sz="3200" b="0" i="0">
                <a:solidFill>
                  <a:srgbClr val="3B7DD8"/>
                </a:solidFill>
                <a:latin typeface="Calibri"/>
              </a:rPr>
              <a:t>(</a:t>
            </a:r>
            <a:r>
              <a:rPr sz="3200" b="0" i="0" u="sng">
                <a:solidFill>
                  <a:srgbClr val="3B7DD8"/>
                </a:solidFill>
                <a:latin typeface="Calibri"/>
              </a:rPr>
              <a:t>reliable</a:t>
            </a:r>
            <a:r>
              <a:rPr sz="3200" b="0" i="0">
                <a:solidFill>
                  <a:srgbClr val="3B7DD8"/>
                </a:solidFill>
                <a:latin typeface="Calibri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3383279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 i="1">
                <a:solidFill>
                  <a:srgbClr val="3B7DD8"/>
                </a:solidFill>
                <a:latin typeface="Calibri"/>
              </a:rPr>
              <a:t>Start</a:t>
            </a:r>
          </a:p>
        </p:txBody>
      </p:sp>
      <p:sp>
        <p:nvSpPr>
          <p:cNvPr id="9" name="Oval 8"/>
          <p:cNvSpPr/>
          <p:nvPr/>
        </p:nvSpPr>
        <p:spPr>
          <a:xfrm>
            <a:off x="4343400" y="333756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3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2972943"/>
            <a:ext cx="2194560" cy="2914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 i="0">
                <a:solidFill>
                  <a:srgbClr val="232B2B"/>
                </a:solidFill>
                <a:latin typeface="Consolas"/>
              </a:rPr>
              <a:t>Step 1</a:t>
            </a:r>
          </a:p>
        </p:txBody>
      </p:sp>
      <p:sp>
        <p:nvSpPr>
          <p:cNvPr id="11" name="Oval 10"/>
          <p:cNvSpPr/>
          <p:nvPr/>
        </p:nvSpPr>
        <p:spPr>
          <a:xfrm>
            <a:off x="7452360" y="333756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3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972943"/>
            <a:ext cx="2194560" cy="2914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 i="0">
                <a:solidFill>
                  <a:srgbClr val="232B2B"/>
                </a:solidFill>
                <a:latin typeface="Consolas"/>
              </a:rP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3383279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 i="1">
                <a:solidFill>
                  <a:srgbClr val="3B7DD8"/>
                </a:solidFill>
                <a:latin typeface="Calibri"/>
              </a:rPr>
              <a:t>End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429000" y="3566160"/>
            <a:ext cx="868680" cy="0"/>
          </a:xfrm>
          <a:prstGeom prst="line">
            <a:avLst/>
          </a:prstGeom>
          <a:ln w="25400">
            <a:solidFill>
              <a:srgbClr val="3B7D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873752" y="3566160"/>
            <a:ext cx="1069848" cy="0"/>
          </a:xfrm>
          <a:prstGeom prst="line">
            <a:avLst/>
          </a:prstGeom>
          <a:ln w="25400">
            <a:solidFill>
              <a:srgbClr val="3B7D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955280" y="3566160"/>
            <a:ext cx="731520" cy="0"/>
          </a:xfrm>
          <a:prstGeom prst="line">
            <a:avLst/>
          </a:prstGeom>
          <a:ln w="25400">
            <a:solidFill>
              <a:srgbClr val="3B7D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0040219" cy="54864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Intuition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8A8A8A"/>
                </a:solidFill>
                <a:latin typeface="Calibri"/>
              </a:rPr>
              <a:t>AI Engineering  ·  Introduction to LangGraph ·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8A8A8A"/>
                </a:solidFill>
                <a:latin typeface="Calibri"/>
              </a:rPr>
              <a:t>14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0" i="0">
                <a:solidFill>
                  <a:srgbClr val="D64545"/>
                </a:solidFill>
                <a:latin typeface="Calibri"/>
              </a:rPr>
              <a:t>Inject an LLM to make it an agent </a:t>
            </a:r>
            <a:r>
              <a:rPr sz="3200" b="0" i="0">
                <a:solidFill>
                  <a:srgbClr val="D64545"/>
                </a:solidFill>
                <a:latin typeface="Calibri"/>
              </a:rPr>
              <a:t>(</a:t>
            </a:r>
            <a:r>
              <a:rPr sz="3200" b="0" i="0" u="sng">
                <a:solidFill>
                  <a:srgbClr val="D64545"/>
                </a:solidFill>
                <a:latin typeface="Calibri"/>
              </a:rPr>
              <a:t>control</a:t>
            </a:r>
            <a:r>
              <a:rPr sz="3200" b="0" i="0">
                <a:solidFill>
                  <a:srgbClr val="D64545"/>
                </a:solidFill>
                <a:latin typeface="Calibri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3291839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 i="1">
                <a:solidFill>
                  <a:srgbClr val="3B7DD8"/>
                </a:solidFill>
                <a:latin typeface="Calibri"/>
              </a:rPr>
              <a:t>Start</a:t>
            </a:r>
          </a:p>
        </p:txBody>
      </p:sp>
      <p:sp>
        <p:nvSpPr>
          <p:cNvPr id="9" name="Oval 8"/>
          <p:cNvSpPr/>
          <p:nvPr/>
        </p:nvSpPr>
        <p:spPr>
          <a:xfrm>
            <a:off x="3886200" y="324612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3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2881502"/>
            <a:ext cx="2194560" cy="2914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 i="0">
                <a:solidFill>
                  <a:srgbClr val="232B2B"/>
                </a:solidFill>
                <a:latin typeface="Consolas"/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39104" y="306324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600" b="0" i="0">
                <a:solidFill>
                  <a:srgbClr val="232B2B"/>
                </a:solidFill>
                <a:latin typeface="Calibri"/>
              </a:rPr>
              <a:t>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99024" y="2835783"/>
            <a:ext cx="2194560" cy="2914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D64545"/>
                </a:solidFill>
                <a:latin typeface="Consolas"/>
              </a:rPr>
              <a:t>LLM</a:t>
            </a:r>
          </a:p>
        </p:txBody>
      </p:sp>
      <p:sp>
        <p:nvSpPr>
          <p:cNvPr id="13" name="Oval 12"/>
          <p:cNvSpPr/>
          <p:nvPr/>
        </p:nvSpPr>
        <p:spPr>
          <a:xfrm>
            <a:off x="7818120" y="324612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3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2881502"/>
            <a:ext cx="2194560" cy="2914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 i="0">
                <a:solidFill>
                  <a:srgbClr val="232B2B"/>
                </a:solidFill>
                <a:latin typeface="Consolas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3291839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 i="1">
                <a:solidFill>
                  <a:srgbClr val="3B7DD8"/>
                </a:solidFill>
                <a:latin typeface="Calibri"/>
              </a:rPr>
              <a:t>End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971800" y="3474720"/>
            <a:ext cx="868680" cy="0"/>
          </a:xfrm>
          <a:prstGeom prst="line">
            <a:avLst/>
          </a:prstGeom>
          <a:ln w="25400">
            <a:solidFill>
              <a:srgbClr val="3B7D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389120" y="3474720"/>
            <a:ext cx="1277416" cy="0"/>
          </a:xfrm>
          <a:prstGeom prst="line">
            <a:avLst/>
          </a:prstGeom>
          <a:ln w="25400">
            <a:solidFill>
              <a:srgbClr val="3B7D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526072" y="3474720"/>
            <a:ext cx="1246328" cy="0"/>
          </a:xfrm>
          <a:prstGeom prst="line">
            <a:avLst/>
          </a:prstGeom>
          <a:ln w="25400">
            <a:solidFill>
              <a:srgbClr val="D645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321040" y="3474720"/>
            <a:ext cx="731520" cy="0"/>
          </a:xfrm>
          <a:prstGeom prst="line">
            <a:avLst/>
          </a:prstGeom>
          <a:ln w="25400">
            <a:solidFill>
              <a:srgbClr val="3B7D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reeform 19"/>
          <p:cNvSpPr/>
          <p:nvPr/>
        </p:nvSpPr>
        <p:spPr>
          <a:xfrm>
            <a:off x="4114800" y="3758184"/>
            <a:ext cx="1981504" cy="585216"/>
          </a:xfrm>
          <a:custGeom>
            <a:avLst/>
            <a:gdLst/>
            <a:ahLst/>
            <a:cxnLst/>
            <a:rect l="l" t="t" r="r" b="b"/>
            <a:pathLst>
              <a:path w="1981504" h="585216">
                <a:moveTo>
                  <a:pt x="1981504" y="100584"/>
                </a:moveTo>
                <a:lnTo>
                  <a:pt x="1981504" y="585216"/>
                </a:lnTo>
                <a:lnTo>
                  <a:pt x="0" y="585216"/>
                </a:lnTo>
                <a:lnTo>
                  <a:pt x="0" y="0"/>
                </a:lnTo>
              </a:path>
            </a:pathLst>
          </a:custGeom>
          <a:noFill/>
          <a:ln w="25400">
            <a:solidFill>
              <a:srgbClr val="D64545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0757378" cy="54864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LangGraph: express custom control flows as graphs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8A8A8A"/>
                </a:solidFill>
                <a:latin typeface="Calibri"/>
              </a:rPr>
              <a:t>AI Engineering  ·  Introduction to LangGraph ·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8A8A8A"/>
                </a:solidFill>
                <a:latin typeface="Calibri"/>
              </a:rPr>
              <a:t>15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2926079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1">
                <a:solidFill>
                  <a:srgbClr val="232B2B"/>
                </a:solidFill>
                <a:latin typeface="Calibri"/>
              </a:rPr>
              <a:t>Start</a:t>
            </a:r>
          </a:p>
        </p:txBody>
      </p:sp>
      <p:sp>
        <p:nvSpPr>
          <p:cNvPr id="8" name="Oval 7"/>
          <p:cNvSpPr/>
          <p:nvPr/>
        </p:nvSpPr>
        <p:spPr>
          <a:xfrm>
            <a:off x="4014215" y="2916936"/>
            <a:ext cx="384048" cy="384048"/>
          </a:xfrm>
          <a:prstGeom prst="ellipse">
            <a:avLst/>
          </a:prstGeom>
          <a:solidFill>
            <a:srgbClr val="ECECEC"/>
          </a:solidFill>
          <a:ln w="1905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59" y="2603753"/>
            <a:ext cx="2194560" cy="2400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8A8A8A"/>
                </a:solidFill>
                <a:latin typeface="Consolas"/>
              </a:rPr>
              <a:t>Node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40679" y="2743200"/>
            <a:ext cx="731520" cy="731520"/>
          </a:xfrm>
          <a:prstGeom prst="roundRect">
            <a:avLst>
              <a:gd name="adj" fmla="val 14000"/>
            </a:avLst>
          </a:prstGeom>
          <a:solidFill>
            <a:srgbClr val="FADADA"/>
          </a:solidFill>
          <a:ln w="19050">
            <a:solidFill>
              <a:srgbClr val="D6454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40679" y="27432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0" i="0">
                <a:solidFill>
                  <a:srgbClr val="232B2B"/>
                </a:solidFill>
                <a:latin typeface="Calibri"/>
              </a:rPr>
              <a:t>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2430018"/>
            <a:ext cx="2194560" cy="2400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D64545"/>
                </a:solidFill>
                <a:latin typeface="Consolas"/>
              </a:rPr>
              <a:t>Edge</a:t>
            </a:r>
          </a:p>
        </p:txBody>
      </p:sp>
      <p:sp>
        <p:nvSpPr>
          <p:cNvPr id="13" name="Oval 12"/>
          <p:cNvSpPr/>
          <p:nvPr/>
        </p:nvSpPr>
        <p:spPr>
          <a:xfrm>
            <a:off x="7397496" y="2916936"/>
            <a:ext cx="384048" cy="384048"/>
          </a:xfrm>
          <a:prstGeom prst="ellipse">
            <a:avLst/>
          </a:prstGeom>
          <a:solidFill>
            <a:srgbClr val="D4EDD4"/>
          </a:solidFill>
          <a:ln w="1905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603753"/>
            <a:ext cx="2194560" cy="2400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4CAF50"/>
                </a:solidFill>
                <a:latin typeface="Consolas"/>
              </a:rPr>
              <a:t>Node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926079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1">
                <a:solidFill>
                  <a:srgbClr val="232B2B"/>
                </a:solidFill>
                <a:latin typeface="Calibri"/>
              </a:rPr>
              <a:t>End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063240" y="3108960"/>
            <a:ext cx="905256" cy="0"/>
          </a:xfrm>
          <a:prstGeom prst="line">
            <a:avLst/>
          </a:prstGeom>
          <a:ln w="19050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443983" y="3108960"/>
            <a:ext cx="950976" cy="0"/>
          </a:xfrm>
          <a:prstGeom prst="line">
            <a:avLst/>
          </a:prstGeom>
          <a:ln w="19050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217920" y="3108960"/>
            <a:ext cx="1133856" cy="0"/>
          </a:xfrm>
          <a:prstGeom prst="line">
            <a:avLst/>
          </a:prstGeom>
          <a:ln w="19050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827264" y="3108960"/>
            <a:ext cx="768096" cy="0"/>
          </a:xfrm>
          <a:prstGeom prst="line">
            <a:avLst/>
          </a:prstGeom>
          <a:ln w="19050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reeform 19"/>
          <p:cNvSpPr/>
          <p:nvPr/>
        </p:nvSpPr>
        <p:spPr>
          <a:xfrm>
            <a:off x="4206240" y="3346704"/>
            <a:ext cx="1600200" cy="630935"/>
          </a:xfrm>
          <a:custGeom>
            <a:avLst/>
            <a:gdLst/>
            <a:ahLst/>
            <a:cxnLst/>
            <a:rect l="l" t="t" r="r" b="b"/>
            <a:pathLst>
              <a:path w="1600200" h="630935">
                <a:moveTo>
                  <a:pt x="1600200" y="173736"/>
                </a:moveTo>
                <a:lnTo>
                  <a:pt x="1600200" y="630935"/>
                </a:lnTo>
                <a:lnTo>
                  <a:pt x="0" y="630935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232B2B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80644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8A8A8A"/>
                </a:solidFill>
                <a:latin typeface="Calibri"/>
              </a:rPr>
              <a:t>Reference:  </a:t>
            </a:r>
            <a:r>
              <a:rPr sz="1300" b="0" i="0">
                <a:solidFill>
                  <a:srgbClr val="3B7DD8"/>
                </a:solidFill>
                <a:latin typeface="Calibri"/>
                <a:hlinkClick r:id="rId2"/>
              </a:rPr>
              <a:t>github.com/langchain-ai/langgraph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1474536" cy="54864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Memory, tools and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8A8A8A"/>
                </a:solidFill>
                <a:latin typeface="Calibri"/>
              </a:rPr>
              <a:t>AI Engineering  ·  Introduction to LangGraph ·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8A8A8A"/>
                </a:solidFill>
                <a:latin typeface="Calibri"/>
              </a:rPr>
              <a:t>16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310896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1">
                <a:solidFill>
                  <a:srgbClr val="232B2B"/>
                </a:solidFill>
                <a:latin typeface="Calibri"/>
              </a:rPr>
              <a:t>Start</a:t>
            </a:r>
          </a:p>
        </p:txBody>
      </p:sp>
      <p:sp>
        <p:nvSpPr>
          <p:cNvPr id="8" name="Oval 7"/>
          <p:cNvSpPr/>
          <p:nvPr/>
        </p:nvSpPr>
        <p:spPr>
          <a:xfrm>
            <a:off x="4014215" y="3099816"/>
            <a:ext cx="384048" cy="384048"/>
          </a:xfrm>
          <a:prstGeom prst="ellipse">
            <a:avLst/>
          </a:prstGeom>
          <a:solidFill>
            <a:srgbClr val="ECECEC"/>
          </a:solidFill>
          <a:ln w="1905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59" y="2786634"/>
            <a:ext cx="2194560" cy="2400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8A8A8A"/>
                </a:solidFill>
                <a:latin typeface="Consolas"/>
              </a:rPr>
              <a:t>Node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40679" y="2926080"/>
            <a:ext cx="731520" cy="731520"/>
          </a:xfrm>
          <a:prstGeom prst="roundRect">
            <a:avLst>
              <a:gd name="adj" fmla="val 14000"/>
            </a:avLst>
          </a:prstGeom>
          <a:solidFill>
            <a:srgbClr val="FADADA"/>
          </a:solidFill>
          <a:ln w="19050">
            <a:solidFill>
              <a:srgbClr val="D6454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40679" y="292608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0" i="0">
                <a:solidFill>
                  <a:srgbClr val="232B2B"/>
                </a:solidFill>
                <a:latin typeface="Calibri"/>
              </a:rPr>
              <a:t>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2612898"/>
            <a:ext cx="2194560" cy="2400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D64545"/>
                </a:solidFill>
                <a:latin typeface="Consolas"/>
              </a:rPr>
              <a:t>Edge</a:t>
            </a:r>
          </a:p>
        </p:txBody>
      </p:sp>
      <p:sp>
        <p:nvSpPr>
          <p:cNvPr id="13" name="Oval 12"/>
          <p:cNvSpPr/>
          <p:nvPr/>
        </p:nvSpPr>
        <p:spPr>
          <a:xfrm>
            <a:off x="7397496" y="3099816"/>
            <a:ext cx="384048" cy="384048"/>
          </a:xfrm>
          <a:prstGeom prst="ellipse">
            <a:avLst/>
          </a:prstGeom>
          <a:solidFill>
            <a:srgbClr val="D4EDD4"/>
          </a:solidFill>
          <a:ln w="1905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786634"/>
            <a:ext cx="2194560" cy="2400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4CAF50"/>
                </a:solidFill>
                <a:latin typeface="Consolas"/>
              </a:rPr>
              <a:t>Node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10896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1">
                <a:solidFill>
                  <a:srgbClr val="232B2B"/>
                </a:solidFill>
                <a:latin typeface="Calibri"/>
              </a:rPr>
              <a:t>End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063240" y="3291840"/>
            <a:ext cx="905256" cy="0"/>
          </a:xfrm>
          <a:prstGeom prst="line">
            <a:avLst/>
          </a:prstGeom>
          <a:ln w="19050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443983" y="3291840"/>
            <a:ext cx="950976" cy="0"/>
          </a:xfrm>
          <a:prstGeom prst="line">
            <a:avLst/>
          </a:prstGeom>
          <a:ln w="19050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217920" y="3291840"/>
            <a:ext cx="1133856" cy="0"/>
          </a:xfrm>
          <a:prstGeom prst="line">
            <a:avLst/>
          </a:prstGeom>
          <a:ln w="19050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827264" y="3291840"/>
            <a:ext cx="768096" cy="0"/>
          </a:xfrm>
          <a:prstGeom prst="line">
            <a:avLst/>
          </a:prstGeom>
          <a:ln w="19050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reeform 19"/>
          <p:cNvSpPr/>
          <p:nvPr/>
        </p:nvSpPr>
        <p:spPr>
          <a:xfrm>
            <a:off x="4206240" y="3529584"/>
            <a:ext cx="1600200" cy="630936"/>
          </a:xfrm>
          <a:custGeom>
            <a:avLst/>
            <a:gdLst/>
            <a:ahLst/>
            <a:cxnLst/>
            <a:rect l="l" t="t" r="r" b="b"/>
            <a:pathLst>
              <a:path w="1600200" h="630936">
                <a:moveTo>
                  <a:pt x="1600200" y="173736"/>
                </a:moveTo>
                <a:lnTo>
                  <a:pt x="1600200" y="630936"/>
                </a:lnTo>
                <a:lnTo>
                  <a:pt x="0" y="630936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232B2B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1325880"/>
            <a:ext cx="3474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32B2B"/>
                </a:solidFill>
                <a:latin typeface="Consolas"/>
              </a:rPr>
              <a:t>Memory:</a:t>
            </a:r>
          </a:p>
          <a:p>
            <a:pPr algn="l"/>
            <a:r>
              <a:rPr sz="1500" b="0" i="0">
                <a:solidFill>
                  <a:srgbClr val="232B2B"/>
                </a:solidFill>
                <a:latin typeface="Consolas"/>
              </a:rPr>
              <a:t>shared state across the graph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1188720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32B2B"/>
                </a:solidFill>
                <a:latin typeface="Consolas"/>
              </a:rPr>
              <a:t>Tools:</a:t>
            </a:r>
          </a:p>
          <a:p>
            <a:pPr algn="l"/>
            <a:r>
              <a:rPr sz="1500" b="0" i="0">
                <a:solidFill>
                  <a:srgbClr val="232B2B"/>
                </a:solidFill>
                <a:latin typeface="Consolas"/>
              </a:rPr>
              <a:t>nodes can call tools and modify state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589520" y="2130552"/>
            <a:ext cx="0" cy="521208"/>
          </a:xfrm>
          <a:prstGeom prst="line">
            <a:avLst/>
          </a:prstGeom>
          <a:ln w="15875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566160" y="4526280"/>
            <a:ext cx="5669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32B2B"/>
                </a:solidFill>
                <a:latin typeface="Consolas"/>
              </a:rPr>
              <a:t>Planning: </a:t>
            </a:r>
            <a:r>
              <a:rPr sz="1500" b="0" i="0">
                <a:solidFill>
                  <a:srgbClr val="232B2B"/>
                </a:solidFill>
                <a:latin typeface="Consolas"/>
              </a:rPr>
              <a:t>edges can route control flow based on LLM decisions</a:t>
            </a:r>
          </a:p>
        </p:txBody>
      </p:sp>
      <p:cxnSp>
        <p:nvCxnSpPr>
          <p:cNvPr id="25" name="Connector 24"/>
          <p:cNvCxnSpPr/>
          <p:nvPr/>
        </p:nvCxnSpPr>
        <p:spPr>
          <a:xfrm flipH="1" flipV="1">
            <a:off x="6217920" y="3730752"/>
            <a:ext cx="182880" cy="768096"/>
          </a:xfrm>
          <a:prstGeom prst="line">
            <a:avLst/>
          </a:prstGeom>
          <a:ln w="15875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57200" y="580644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8A8A8A"/>
                </a:solidFill>
                <a:latin typeface="Calibri"/>
              </a:rPr>
              <a:t>Reference:  </a:t>
            </a:r>
            <a:r>
              <a:rPr sz="1300" b="0" i="0">
                <a:solidFill>
                  <a:srgbClr val="3B7DD8"/>
                </a:solidFill>
                <a:latin typeface="Calibri"/>
                <a:hlinkClick r:id="rId2"/>
              </a:rPr>
              <a:t>github.com/langchain-ai/langgraph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What you will learn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8A8A8A"/>
                </a:solidFill>
                <a:latin typeface="Calibri"/>
              </a:rPr>
              <a:t>AI Engineering  ·  Introduction to LangGraph ·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8A8A8A"/>
                </a:solidFill>
                <a:latin typeface="Calibri"/>
              </a:rPr>
              <a:t>17 / 17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234440" y="3520440"/>
            <a:ext cx="2948025" cy="0"/>
          </a:xfrm>
          <a:prstGeom prst="line">
            <a:avLst/>
          </a:prstGeom>
          <a:ln w="15875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234440" y="1645920"/>
            <a:ext cx="0" cy="1874520"/>
          </a:xfrm>
          <a:prstGeom prst="line">
            <a:avLst/>
          </a:prstGeom>
          <a:ln w="15875">
            <a:solidFill>
              <a:srgbClr val="23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15544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232B2B"/>
                </a:solidFill>
                <a:latin typeface="Consolas"/>
              </a:rPr>
              <a:t>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3832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232B2B"/>
                </a:solidFill>
                <a:latin typeface="Consolas"/>
              </a:rPr>
              <a:t>Low</a:t>
            </a:r>
          </a:p>
        </p:txBody>
      </p:sp>
      <p:sp>
        <p:nvSpPr>
          <p:cNvPr id="11" name="TextBox 10"/>
          <p:cNvSpPr txBox="1"/>
          <p:nvPr/>
        </p:nvSpPr>
        <p:spPr>
          <a:xfrm rot="16200000">
            <a:off x="829360" y="4046220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232B2B"/>
                </a:solidFill>
                <a:latin typeface="Consolas"/>
              </a:rPr>
              <a:t>Code</a:t>
            </a:r>
          </a:p>
        </p:txBody>
      </p:sp>
      <p:sp>
        <p:nvSpPr>
          <p:cNvPr id="12" name="TextBox 11"/>
          <p:cNvSpPr txBox="1"/>
          <p:nvPr/>
        </p:nvSpPr>
        <p:spPr>
          <a:xfrm rot="16200000">
            <a:off x="1304848" y="4046220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232B2B"/>
                </a:solidFill>
                <a:latin typeface="Consolas"/>
              </a:rPr>
              <a:t>LLM call / chain</a:t>
            </a:r>
          </a:p>
        </p:txBody>
      </p:sp>
      <p:sp>
        <p:nvSpPr>
          <p:cNvPr id="13" name="TextBox 12"/>
          <p:cNvSpPr txBox="1"/>
          <p:nvPr/>
        </p:nvSpPr>
        <p:spPr>
          <a:xfrm rot="16200000">
            <a:off x="1946757" y="4046220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232B2B"/>
                </a:solidFill>
                <a:latin typeface="Consolas"/>
              </a:rPr>
              <a:t>Router</a:t>
            </a:r>
          </a:p>
        </p:txBody>
      </p:sp>
      <p:sp>
        <p:nvSpPr>
          <p:cNvPr id="14" name="TextBox 13"/>
          <p:cNvSpPr txBox="1"/>
          <p:nvPr/>
        </p:nvSpPr>
        <p:spPr>
          <a:xfrm rot="16200000">
            <a:off x="3135477" y="4046220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232B2B"/>
                </a:solidFill>
                <a:latin typeface="Consolas"/>
              </a:rPr>
              <a:t>Fully autonomous</a:t>
            </a:r>
          </a:p>
        </p:txBody>
      </p:sp>
      <p:sp>
        <p:nvSpPr>
          <p:cNvPr id="15" name="Freeform 14"/>
          <p:cNvSpPr/>
          <p:nvPr/>
        </p:nvSpPr>
        <p:spPr>
          <a:xfrm>
            <a:off x="1377086" y="1828800"/>
            <a:ext cx="2424989" cy="1554480"/>
          </a:xfrm>
          <a:custGeom>
            <a:avLst/>
            <a:gdLst/>
            <a:ahLst/>
            <a:cxnLst/>
            <a:rect l="l" t="t" r="r" b="b"/>
            <a:pathLst>
              <a:path w="2424989" h="1554480">
                <a:moveTo>
                  <a:pt x="0" y="1554480"/>
                </a:moveTo>
                <a:lnTo>
                  <a:pt x="2424989" y="0"/>
                </a:lnTo>
              </a:path>
            </a:pathLst>
          </a:custGeom>
          <a:noFill/>
          <a:ln w="25400">
            <a:solidFill>
              <a:srgbClr val="4CAF5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75227" y="16916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4CAF50"/>
                </a:solidFill>
                <a:latin typeface="Consolas"/>
              </a:rPr>
              <a:t>Agency</a:t>
            </a:r>
          </a:p>
        </p:txBody>
      </p:sp>
      <p:sp>
        <p:nvSpPr>
          <p:cNvPr id="17" name="Freeform 16"/>
          <p:cNvSpPr/>
          <p:nvPr/>
        </p:nvSpPr>
        <p:spPr>
          <a:xfrm>
            <a:off x="3469233" y="2514600"/>
            <a:ext cx="0" cy="845820"/>
          </a:xfrm>
          <a:custGeom>
            <a:avLst/>
            <a:gdLst/>
            <a:ahLst/>
            <a:cxnLst/>
            <a:rect l="l" t="t" r="r" b="b"/>
            <a:pathLst>
              <a:path w="0" h="845820">
                <a:moveTo>
                  <a:pt x="0" y="84582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D64545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97633" y="28346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D64545"/>
                </a:solidFill>
                <a:latin typeface="Calibri"/>
              </a:rPr>
              <a:t>LangGraph</a:t>
            </a:r>
          </a:p>
        </p:txBody>
      </p:sp>
      <p:sp>
        <p:nvSpPr>
          <p:cNvPr id="19" name="Freeform 18"/>
          <p:cNvSpPr/>
          <p:nvPr/>
        </p:nvSpPr>
        <p:spPr>
          <a:xfrm>
            <a:off x="1377086" y="1828800"/>
            <a:ext cx="2424989" cy="617220"/>
          </a:xfrm>
          <a:custGeom>
            <a:avLst/>
            <a:gdLst/>
            <a:ahLst/>
            <a:cxnLst/>
            <a:rect l="l" t="t" r="r" b="b"/>
            <a:pathLst>
              <a:path w="2424989" h="617220">
                <a:moveTo>
                  <a:pt x="0" y="0"/>
                </a:moveTo>
                <a:lnTo>
                  <a:pt x="1141171" y="434340"/>
                </a:lnTo>
                <a:lnTo>
                  <a:pt x="2424989" y="617220"/>
                </a:lnTo>
              </a:path>
            </a:pathLst>
          </a:custGeom>
          <a:noFill/>
          <a:ln w="25400">
            <a:solidFill>
              <a:srgbClr val="3B7DD8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75227" y="23088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3B7DD8"/>
                </a:solidFill>
                <a:latin typeface="Consolas"/>
              </a:rPr>
              <a:t>Reliability</a:t>
            </a:r>
          </a:p>
        </p:txBody>
      </p:sp>
      <p:sp>
        <p:nvSpPr>
          <p:cNvPr id="21" name="Freeform 20"/>
          <p:cNvSpPr/>
          <p:nvPr/>
        </p:nvSpPr>
        <p:spPr>
          <a:xfrm>
            <a:off x="1377086" y="4892040"/>
            <a:ext cx="2520086" cy="182880"/>
          </a:xfrm>
          <a:custGeom>
            <a:avLst/>
            <a:gdLst/>
            <a:ahLst/>
            <a:cxnLst/>
            <a:rect l="l" t="t" r="r" b="b"/>
            <a:pathLst>
              <a:path w="2520086" h="182880">
                <a:moveTo>
                  <a:pt x="0" y="182880"/>
                </a:moveTo>
                <a:lnTo>
                  <a:pt x="2520086" y="0"/>
                </a:lnTo>
                <a:lnTo>
                  <a:pt x="2520086" y="182880"/>
                </a:lnTo>
                <a:close/>
              </a:path>
            </a:pathLst>
          </a:custGeom>
          <a:noFill/>
          <a:ln w="12700">
            <a:solidFill>
              <a:srgbClr val="23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4126" y="492861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232B2B"/>
                </a:solidFill>
                <a:latin typeface="Consolas"/>
              </a:rPr>
              <a:t>Less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88612" y="492861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232B2B"/>
                </a:solidFill>
                <a:latin typeface="Consolas"/>
              </a:rPr>
              <a:t>More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22729" y="511149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32B2B"/>
                </a:solidFill>
                <a:latin typeface="Consolas"/>
              </a:rPr>
              <a:t>Control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120640" y="1463040"/>
          <a:ext cx="65836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11480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 marL="109728" marR="109728" marT="73152" marB="73152" anchor="ctr">
                    <a:solidFill>
                      <a:srgbClr val="1C3C3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What you will learn</a:t>
                      </a:r>
                    </a:p>
                  </a:txBody>
                  <a:tcPr marL="109728" marR="109728" marT="73152" marB="73152" anchor="ctr">
                    <a:solidFill>
                      <a:srgbClr val="1C3C3C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32B2B"/>
                          </a:solidFill>
                          <a:latin typeface="Calibri"/>
                        </a:rPr>
                        <a:t>Module 0</a:t>
                      </a:r>
                    </a:p>
                    <a:p>
                      <a:r>
                        <a:rPr sz="1500" b="0">
                          <a:solidFill>
                            <a:srgbClr val="8A8A8A"/>
                          </a:solidFill>
                          <a:latin typeface="Calibri"/>
                        </a:rPr>
                        <a:t>LangGraph fundamentals</a:t>
                      </a:r>
                    </a:p>
                  </a:txBody>
                  <a:tcPr marL="109728" marR="109728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32B2B"/>
                          </a:solidFill>
                          <a:latin typeface="Calibri"/>
                        </a:rPr>
                        <a:t>Nodes, state, edges, memory, interrupts, tools and chat models</a:t>
                      </a:r>
                    </a:p>
                  </a:txBody>
                  <a:tcPr marL="109728" marR="109728" marT="73152" marB="73152" anchor="ctr"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32B2B"/>
                          </a:solidFill>
                          <a:latin typeface="Calibri"/>
                        </a:rPr>
                        <a:t>Module 1</a:t>
                      </a:r>
                    </a:p>
                    <a:p>
                      <a:r>
                        <a:rPr sz="1500" b="0">
                          <a:solidFill>
                            <a:srgbClr val="8A8A8A"/>
                          </a:solidFill>
                          <a:latin typeface="Calibri"/>
                        </a:rPr>
                        <a:t>Messages, agents and state</a:t>
                      </a:r>
                    </a:p>
                  </a:txBody>
                  <a:tcPr marL="109728" marR="109728" marT="73152" marB="73152" anchor="ctr">
                    <a:solidFill>
                      <a:srgbClr val="F0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32B2B"/>
                          </a:solidFill>
                          <a:latin typeface="Calibri"/>
                        </a:rPr>
                        <a:t>Chains, routers and agents · agent memory · state schemas and reducers · trimming and summarising messages · prompting, multimodal input, MCP and middleware</a:t>
                      </a:r>
                    </a:p>
                  </a:txBody>
                  <a:tcPr marL="109728" marR="109728" marT="73152" marB="73152" anchor="ctr">
                    <a:solidFill>
                      <a:srgbClr val="F0F3F3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457200" y="580644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8A8A8A"/>
                </a:solidFill>
                <a:latin typeface="Calibri"/>
              </a:rPr>
              <a:t>Reference:  </a:t>
            </a:r>
            <a:r>
              <a:rPr sz="1300" b="0" i="0">
                <a:solidFill>
                  <a:srgbClr val="3B7DD8"/>
                </a:solidFill>
                <a:latin typeface="Calibri"/>
                <a:hlinkClick r:id="rId2"/>
              </a:rPr>
              <a:t>github.com/langchain-ai/langgraph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